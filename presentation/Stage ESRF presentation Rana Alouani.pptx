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75" r:id="rId13"/>
    <p:sldId id="276" r:id="rId14"/>
    <p:sldId id="268" r:id="rId15"/>
    <p:sldId id="277"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DB867C-C254-4DBC-9B42-F4368B60F061}" v="149" dt="2026-08-25T14:15:43.287"/>
    <p1510:client id="{6D4C5EAE-9067-45B8-92E6-FD18D4BA7223}" v="596" dt="2026-08-26T10:55:03.440"/>
    <p1510:client id="{8F4B7178-6B08-484E-A33B-9BFA83B96221}" v="779" dt="2026-08-24T16:53:26.799"/>
    <p1510:client id="{9254D68E-0F10-4609-86D6-5A6093E387E6}" v="91" dt="2026-08-25T09:24:05.0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54A4BAC1-DA28-4CCB-BA0B-616CD19734C3}" type="datetimeFigureOut">
              <a:t>26/08/2026</a:t>
            </a:fld>
            <a:endParaRPr lang="fr-FR"/>
          </a:p>
        </p:txBody>
      </p:sp>
      <p:sp>
        <p:nvSpPr>
          <p:cNvPr id="4" name="Espace réservé de l'image des diapositives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80B46605-54D6-499C-A4C0-96492CAF2B2E}" type="slidenum">
              <a:t>‹N°›</a:t>
            </a:fld>
            <a:endParaRPr lang="fr-FR"/>
          </a:p>
        </p:txBody>
      </p:sp>
    </p:spTree>
    <p:extLst>
      <p:ext uri="{BB962C8B-B14F-4D97-AF65-F5344CB8AC3E}">
        <p14:creationId xmlns:p14="http://schemas.microsoft.com/office/powerpoint/2010/main" val="3027031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During this internship at the ESRF, I worked on high-performance algorithms for tomography, and more specifically on the correction of optical diffusion in tomography projections.    The problem is that this diffusion produces a spatially extended halo in the measured projections. We already have a correction </a:t>
            </a:r>
            <a:r>
              <a:rPr lang="en-US" dirty="0" err="1"/>
              <a:t>method, but</a:t>
            </a:r>
            <a:r>
              <a:rPr lang="en-US" dirty="0"/>
              <a:t> applying the full correction everywhere and for every projection is computationally expensive.    </a:t>
            </a:r>
            <a:r>
              <a:rPr lang="en-US" dirty="0" err="1"/>
              <a:t>So</a:t>
            </a:r>
            <a:r>
              <a:rPr lang="en-US" dirty="0"/>
              <a:t> the question I investigated was: how can we preserve the correction while reducing its computational cost?    The approach I will present is based on separating the correction into different spatial scales.  : je </a:t>
            </a:r>
            <a:r>
              <a:rPr lang="en-US" dirty="0" err="1"/>
              <a:t>blabla</a:t>
            </a:r>
            <a:r>
              <a:rPr lang="en-US" dirty="0"/>
              <a:t> un peu trop : check encore </a:t>
            </a:r>
            <a:r>
              <a:rPr lang="en-US" dirty="0" err="1"/>
              <a:t>une</a:t>
            </a:r>
            <a:r>
              <a:rPr lang="en-US" dirty="0"/>
              <a:t> </a:t>
            </a:r>
            <a:r>
              <a:rPr lang="en-US" dirty="0" err="1"/>
              <a:t>fois</a:t>
            </a:r>
            <a:r>
              <a:rPr lang="en-US" dirty="0"/>
              <a:t> pour </a:t>
            </a:r>
            <a:r>
              <a:rPr lang="en-US" dirty="0" err="1"/>
              <a:t>raccourcir</a:t>
            </a:r>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tomography, the detector does not directly record the incoming X-rays. The X-rays are first converted into visible light inside a scintillator, and this light is then recorded by the </a:t>
            </a:r>
            <a:r>
              <a:rPr lang="en-US" dirty="0" err="1"/>
              <a:t>camera.But</a:t>
            </a:r>
            <a:r>
              <a:rPr lang="en-US" dirty="0"/>
              <a:t> the light does not remain perfectly localized. Part of it propagates inside the scintillator before reaching the camera.    Mathematically, we can describe the measured image as the ideal projection convolved with a diffusion kernel K.    So before thinking about acceleration, the first thing we need to understand is: what does this kernel actually look like?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diffusion kernel actually looks like.    The central peak corresponds to the direct response, but around it we have several exponentially decaying components with different characteristic lengths.    In the model, each component has a scale s(I)   à  and a weight f(I) . </a:t>
            </a:r>
            <a:r>
              <a:rPr lang="en-US" dirty="0" err="1"/>
              <a:t>Therefore</a:t>
            </a:r>
            <a:r>
              <a:rPr lang="en-US" dirty="0"/>
              <a:t> the diffusion is intrinsically multi-scale.    On a linear scale, almost everything disappears because the central peak dominates. This is why I show the kernel here on a logarithmic scale.   The important observation is that some components are very localized, while others extend over much larger distances.    This observation is what motivates the rest of the work.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existing correction is performed through deconvolution.     After padding the projection, we compute its Fourier transform, divide by the Fourier transform of the diffusion kernel, and transform the result back to real space.    This works, but it means processing full-resolution projections with large FFTs.    And this is where the multi-scale structure becomes interesting.    If part of the correction varies slowly over space, do we really need to compute that part at full resolution everywhere?   This leads to the central idea of the project : bon je ne </a:t>
            </a:r>
            <a:r>
              <a:rPr lang="en-US" err="1"/>
              <a:t>sais</a:t>
            </a:r>
            <a:r>
              <a:rPr lang="en-US" dirty="0"/>
              <a:t> pas trop </a:t>
            </a:r>
            <a:r>
              <a:rPr lang="en-US" err="1"/>
              <a:t>si</a:t>
            </a:r>
            <a:r>
              <a:rPr lang="en-US"/>
              <a:t> je dis </a:t>
            </a:r>
            <a:r>
              <a:rPr lang="en-US" err="1"/>
              <a:t>ça</a:t>
            </a:r>
            <a:r>
              <a:rPr lang="en-US"/>
              <a:t> </a:t>
            </a:r>
            <a:r>
              <a:rPr lang="en-US" err="1"/>
              <a:t>comme</a:t>
            </a:r>
            <a:r>
              <a:rPr lang="en-US"/>
              <a:t> </a:t>
            </a:r>
            <a:r>
              <a:rPr lang="en-US" err="1"/>
              <a:t>ça</a:t>
            </a:r>
            <a:r>
              <a:rPr lang="en-US"/>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treating the correction as one object, I separate it into a low-frequency and a high-frequency contribution.    I define the correction Q as the difference between the measured signal and the fully corrected signal.    The low-frequency component is obtained by Gaussian filtering with sigma equal to eight pixels. The high-frequency component is simply what remains.    </a:t>
            </a:r>
            <a:r>
              <a:rPr lang="en-US" dirty="0" err="1"/>
              <a:t>So</a:t>
            </a:r>
            <a:r>
              <a:rPr lang="en-US" dirty="0"/>
              <a:t> by construction, low plus high gives back exactly the original correction.   This figure shows the same decomposition applied to the correction kernel .   Now the computational strategy becomes clear: treat the smooth component </a:t>
            </a:r>
            <a:r>
              <a:rPr lang="en-US" dirty="0" err="1"/>
              <a:t>cheaply, and</a:t>
            </a:r>
            <a:r>
              <a:rPr lang="en-US" dirty="0"/>
              <a:t> exploit the locality of the high-frequency component.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optimization concerns spatial resolution.    Because the low-frequency correction is smooth, we can bin it spatially before processing it.    With a spatial bin of four in both dimensions, the number of spatial samples is divided by sixteen. </a:t>
            </a:r>
            <a:endParaRPr lang="fr-FR"/>
          </a:p>
          <a:p>
            <a:r>
              <a:rPr lang="en-US"/>
              <a:t>With a Gaussian separation at sigma equals eight pixels, the low-frequency structures are already smooth over several pixels. After a spatial binning by four, this characteristic scale still corresponds to about two pixels in the reduced image. So we significantly reduce the data size without removing the low-frequency information we want to keep.</a:t>
            </a:r>
          </a:p>
          <a:p>
            <a:r>
              <a:rPr lang="en-US" dirty="0"/>
              <a:t>   I want to be precise here: this does not automatically mean that the complete algorithm is sixteen times faster. It only tells us how much the spatial data size is reduced. The actual speed-up depends on the complete implementation and on the FFT cost.    But spatial binning is only one possibility. The low-frequency correction also changes relatively slowly from one projection to the next, which suggests a second reduction.</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combine spatial and angular reduction.   Instead of calculating the low-frequency correction for projection 102 directly, I calculate it for projections 100 and 104, spatially bin these corrections by four, and interpolate between them.   The interpolation also includes a normalization by the projection current, because the overall intensity can change between projections.    On the left is the true low-frequency correction for projection 102. In the center is the prediction obtained from 100 and 104.    Visually, the large-scale structures are very similar.</a:t>
            </a:r>
            <a:endParaRPr lang="fr-FR" dirty="0"/>
          </a:p>
          <a:p>
            <a:r>
              <a:rPr lang="en-US"/>
              <a:t>    On the right I show their difference. Here I use the seismic color map: red and blue represent positive and negative errors, and white corresponds approximately to zero</a:t>
            </a:r>
            <a:endParaRPr lang="en-US" dirty="0"/>
          </a:p>
          <a:p>
            <a:r>
              <a:rPr lang="en-US" dirty="0"/>
              <a:t>. Its standard deviation is only 3.8, compared with about 138 for the low-frequency correction. </a:t>
            </a:r>
            <a:r>
              <a:rPr lang="en-US" dirty="0" err="1"/>
              <a:t>So</a:t>
            </a:r>
            <a:r>
              <a:rPr lang="en-US" dirty="0"/>
              <a:t> although the colors make the residual look significant, its fluctuations are actually much smaller.</a:t>
            </a:r>
            <a:endParaRPr lang="en-US">
              <a:ea typeface="Calibri"/>
              <a:cs typeface="Calibri"/>
            </a:endParaRPr>
          </a:p>
          <a:p>
            <a:r>
              <a:rPr lang="en-US"/>
              <a:t> This establishes that the smooth component can be approximated using both spatial and angular subsampling.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part of the strategy concerns the high-frequency correction     .  Unlike the low-frequency component, we cannot strongly bin the high-frequency part because it contains the fine structures.    But we can exploit something else: its spatial locality....This plot shows the normalized magnitude of the high-frequency correction kernel as a function of vertical distance from its center, on a logarithmic scale.     The amplitude drops by several orders of magnitude as we move away from the center...I then tested different local margins around the region that actually needs to be corrected... With 16 pixels, the high-frequency RMSE is about 0.83. At 32 pixels it drops to 0.32, at 64 pixels to 0.15, and at 128 pixels to about 0.0225....So we do not need the full projection height to recover the high-frequency contribution accurately. A relatively local </a:t>
            </a:r>
            <a:r>
              <a:rPr lang="en-US" dirty="0" err="1"/>
              <a:t>neighbourhood</a:t>
            </a:r>
            <a:r>
              <a:rPr lang="en-US" dirty="0"/>
              <a:t> already captures most of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now put the two approximations together.    The top-left image is the true low-frequency correction for projection 102, while the top-right image is our low-frequency prediction obtained with spatial bin four and angular bin four .     The bottom-left panel contains the high-frequency correction computed only locally, here using a 64-pixel margin.    Adding these two contributions gives our approximation of the complete correction.    The bottom-right panel shows the final residual relative to the reference.    Notice something important: the residual is much smoother than the high-frequency </a:t>
            </a:r>
            <a:r>
              <a:rPr lang="en-US"/>
              <a:t>component.    This is consistent with the quantitative results. At a margin of 64 pixels, the high-frequency localization error has an RMSE of only about 0.15, whereas the final reconstruction error is around 2.23.     Therefore, at this point, the limiting contribution is no longer the localization of the high-frequency correction. The remaining error is mainly associated with the approximated low-frequency prediction.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quantitative result is useful because it tells us where further optimization effort should go.    Increasing the high-frequency margin strongly improves the high-frequency approximation itself. The RMSE decreases from 0.83 at 16 pixels to essentially zero when the full available region is used.      But the final reconstruction RMSE quickly saturates around 2.23.     This value is very close to the low-frequency prediction error, which was approximately 2.226 in this band test.     So once the high-frequency margin is large enough, increasing it further provides almost no improvement to the final result.      In other words, the bottleneck has shifted: the high-frequency localization works; the next improvement should target the low-frequency approximation. </a:t>
            </a:r>
          </a:p>
          <a:p>
            <a:r>
              <a:rPr lang="en-US"/>
              <a:t>This separation also changes where the correction can be applied in the reconstruction pipeline. Previously, the full diffusion correction had to be performed before digest creation because of its large spatial extent. With the new approach, only the long-range low-frequency component remains outside the digest, since it requires information over a large part of the radiograph. The high-frequency component is local enough to be applied directly during volume processing, within the reading margin</a:t>
            </a:r>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Finally, I want to show the effect directly on the reconstructed tomography.</a:t>
            </a:r>
            <a:endParaRPr lang="fr-FR"/>
          </a:p>
          <a:p>
            <a:r>
              <a:rPr lang="en-US"/>
              <a:t>Here, all images show the same reconstructed slice with the same crop and the same grayscale range so they can be compared directly.</a:t>
            </a:r>
          </a:p>
          <a:p>
            <a:r>
              <a:rPr lang="en-US"/>
              <a:t>First, in the left image there is no deconvolution. This gives us the reconstruction before correcting the optical diffusion.</a:t>
            </a:r>
          </a:p>
          <a:p>
            <a:r>
              <a:rPr lang="en-US"/>
              <a:t>In the right image, I apply only the low-frequency correction. We already recover part of the effect, but this correction intentionally contains only the smooth, long-range contribution.</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a:t>In the right image, we have the new correction developed during the internship: the low-frequency contribution is treated at reduced spatial and angular resolution, and the local high-frequency contribution is added separately = final reconstruction </a:t>
            </a:r>
            <a:endParaRPr lang="en-US" dirty="0"/>
          </a:p>
          <a:p>
            <a:endParaRPr lang="en-US" dirty="0"/>
          </a:p>
        </p:txBody>
      </p:sp>
      <p:sp>
        <p:nvSpPr>
          <p:cNvPr id="4" name="Espace réservé du numéro de diapositive 3"/>
          <p:cNvSpPr>
            <a:spLocks noGrp="1"/>
          </p:cNvSpPr>
          <p:nvPr>
            <p:ph type="sldNum" sz="quarter" idx="5"/>
          </p:nvPr>
        </p:nvSpPr>
        <p:spPr/>
        <p:txBody>
          <a:bodyPr/>
          <a:lstStyle/>
          <a:p>
            <a:fld id="{80B46605-54D6-499C-A4C0-96492CAF2B2E}" type="slidenum">
              <a:rPr lang="fr-FR"/>
              <a:t>12</a:t>
            </a:fld>
            <a:endParaRPr lang="fr-FR"/>
          </a:p>
        </p:txBody>
      </p:sp>
    </p:spTree>
    <p:extLst>
      <p:ext uri="{BB962C8B-B14F-4D97-AF65-F5344CB8AC3E}">
        <p14:creationId xmlns:p14="http://schemas.microsoft.com/office/powerpoint/2010/main" val="21554560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dirty="0"/>
              <a:t>Finally, in the left</a:t>
            </a:r>
            <a:r>
              <a:rPr lang="en-US"/>
              <a:t> image we have the previous full-resolution correction, which is used here as the reference. </a:t>
            </a:r>
          </a:p>
          <a:p>
            <a:r>
              <a:rPr lang="en-US"/>
              <a:t>The important comparison is therefore between these two images. The goal of the new method is to reproduce the effect of the reference correction while avoiding the computational and storage cost of applying the complete correction everywhere at full resolution.</a:t>
            </a:r>
            <a:endParaRPr lang="en-US" dirty="0"/>
          </a:p>
          <a:p>
            <a:r>
              <a:rPr lang="en-US"/>
              <a:t>Visually, the new LF plus HF reconstruction remains very close to the reference.</a:t>
            </a:r>
            <a:endParaRPr lang="en-US" dirty="0"/>
          </a:p>
          <a:p>
            <a:r>
              <a:rPr lang="en-US" dirty="0" err="1"/>
              <a:t>So</a:t>
            </a:r>
            <a:r>
              <a:rPr lang="en-US" dirty="0"/>
              <a:t> once we know that the correction remains visually consistent with the reference, the final question is: what do we actually gain in terms of storage and processing time?</a:t>
            </a:r>
            <a:endParaRPr lang="en-US" dirty="0">
              <a:ea typeface="Calibri"/>
              <a:cs typeface="Calibri"/>
            </a:endParaRPr>
          </a:p>
          <a:p>
            <a:endParaRPr lang="en-US" dirty="0">
              <a:ea typeface="Calibri"/>
              <a:cs typeface="Calibri"/>
            </a:endParaRPr>
          </a:p>
          <a:p>
            <a:endParaRPr lang="en-US" dirty="0">
              <a:ea typeface="Calibri"/>
              <a:cs typeface="Calibri"/>
            </a:endParaRPr>
          </a:p>
        </p:txBody>
      </p:sp>
      <p:sp>
        <p:nvSpPr>
          <p:cNvPr id="4" name="Espace réservé du numéro de diapositive 3"/>
          <p:cNvSpPr>
            <a:spLocks noGrp="1"/>
          </p:cNvSpPr>
          <p:nvPr>
            <p:ph type="sldNum" sz="quarter" idx="5"/>
          </p:nvPr>
        </p:nvSpPr>
        <p:spPr/>
        <p:txBody>
          <a:bodyPr/>
          <a:lstStyle/>
          <a:p>
            <a:fld id="{80B46605-54D6-499C-A4C0-96492CAF2B2E}" type="slidenum">
              <a:rPr lang="fr-FR"/>
              <a:t>13</a:t>
            </a:fld>
            <a:endParaRPr lang="fr-FR"/>
          </a:p>
        </p:txBody>
      </p:sp>
    </p:spTree>
    <p:extLst>
      <p:ext uri="{BB962C8B-B14F-4D97-AF65-F5344CB8AC3E}">
        <p14:creationId xmlns:p14="http://schemas.microsoft.com/office/powerpoint/2010/main" val="33914454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performance gains are also significant. The disk footprint decreases from 4.7 terabytes to about 80 gigabytes, which is approximately 59 times smaller. Digest creation decreases from 32 minutes to 4 minutes, so it is about eight times faster. And the reconstruction time decreases from 118 minutes to 93 minutes, which is a reduction of about 21 percent. These measurements show that the multi-scale strategy improves not only the numerical organization of the correction, but also the practical cost of the reconstruction pipeline.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63B66"/>
          </a:solidFill>
          <a:ln w="12700">
            <a:solidFill>
              <a:srgbClr val="263B66"/>
            </a:solidFill>
            <a:prstDash val="solid"/>
          </a:ln>
        </p:spPr>
      </p:sp>
      <p:sp>
        <p:nvSpPr>
          <p:cNvPr id="3" name="Text 1"/>
          <p:cNvSpPr/>
          <p:nvPr/>
        </p:nvSpPr>
        <p:spPr>
          <a:xfrm>
            <a:off x="502920" y="6556248"/>
            <a:ext cx="5852160" cy="164592"/>
          </a:xfrm>
          <a:prstGeom prst="rect">
            <a:avLst/>
          </a:prstGeom>
          <a:noFill/>
          <a:ln/>
        </p:spPr>
        <p:txBody>
          <a:bodyPr wrap="square" lIns="0" tIns="0" rIns="0" bIns="0" rtlCol="0" anchor="ctr"/>
          <a:lstStyle/>
          <a:p>
            <a:pPr marL="0" indent="0">
              <a:buNone/>
            </a:pPr>
            <a:r>
              <a:rPr lang="en-US" sz="750" dirty="0">
                <a:solidFill>
                  <a:srgbClr val="6B7280"/>
                </a:solidFill>
                <a:latin typeface="Aptos" pitchFamily="34" charset="0"/>
                <a:ea typeface="Aptos" pitchFamily="34" charset="-122"/>
                <a:cs typeface="Aptos" pitchFamily="34" charset="-120"/>
              </a:rPr>
              <a:t>ESRF · High-performance algorithms for tomography</a:t>
            </a:r>
            <a:endParaRPr lang="en-US" sz="750" dirty="0"/>
          </a:p>
        </p:txBody>
      </p:sp>
      <p:sp>
        <p:nvSpPr>
          <p:cNvPr id="4" name="Text 2"/>
          <p:cNvSpPr/>
          <p:nvPr/>
        </p:nvSpPr>
        <p:spPr>
          <a:xfrm>
            <a:off x="9784080" y="6556248"/>
            <a:ext cx="1874520" cy="164592"/>
          </a:xfrm>
          <a:prstGeom prst="rect">
            <a:avLst/>
          </a:prstGeom>
          <a:noFill/>
          <a:ln/>
        </p:spPr>
        <p:txBody>
          <a:bodyPr wrap="square" lIns="0" tIns="0" rIns="0" bIns="0" rtlCol="0" anchor="ctr"/>
          <a:lstStyle/>
          <a:p>
            <a:pPr marL="0" indent="0" algn="r">
              <a:buNone/>
            </a:pPr>
            <a:r>
              <a:rPr lang="en-US" sz="750" dirty="0">
                <a:solidFill>
                  <a:srgbClr val="6B7280"/>
                </a:solidFill>
                <a:latin typeface="Aptos" pitchFamily="34" charset="0"/>
                <a:ea typeface="Aptos" pitchFamily="34" charset="-122"/>
                <a:cs typeface="Aptos" pitchFamily="34" charset="-120"/>
              </a:rPr>
              <a:t>Rana Alouani · 2026</a:t>
            </a:r>
            <a:endParaRPr lang="en-US" sz="750" dirty="0"/>
          </a:p>
        </p:txBody>
      </p:sp>
      <p:sp>
        <p:nvSpPr>
          <p:cNvPr id="25" name="Slide Number Placeholder 0"/>
          <p:cNvSpPr>
            <a:spLocks noGrp="1"/>
          </p:cNvSpPr>
          <p:nvPr>
            <p:ph type="sldNum" sz="quarter" idx="4294967295"/>
          </p:nvPr>
        </p:nvSpPr>
        <p:spPr>
          <a:xfrm>
            <a:off x="11722608" y="6556248"/>
            <a:ext cx="22860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6B7280"/>
                </a:solidFill>
              </a:defRPr>
            </a:lvl1pPr>
          </a:lstStyle>
          <a:p>
            <a:pPr algn="l"/>
            <a:fld id="{F7021451-1387-4CA6-816F-3879F97B5CBC}" type="slidenum">
              <a:rPr lang="en-US" b="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22608" y="6556248"/>
            <a:ext cx="22860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6B7280"/>
                </a:solidFill>
              </a:defRPr>
            </a:lvl1pPr>
          </a:lstStyle>
          <a:p>
            <a:pPr algn="l"/>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118872"/>
            <a:ext cx="12191695" cy="6437376"/>
          </a:xfrm>
          <a:prstGeom prst="rect">
            <a:avLst/>
          </a:prstGeom>
          <a:solidFill>
            <a:srgbClr val="F7F8FA"/>
          </a:solidFill>
          <a:ln w="12700">
            <a:solidFill>
              <a:srgbClr val="F7F8FA"/>
            </a:solidFill>
            <a:prstDash val="solid"/>
          </a:ln>
        </p:spPr>
      </p:sp>
      <p:sp>
        <p:nvSpPr>
          <p:cNvPr id="3" name="Shape 1"/>
          <p:cNvSpPr/>
          <p:nvPr/>
        </p:nvSpPr>
        <p:spPr>
          <a:xfrm>
            <a:off x="0" y="118872"/>
            <a:ext cx="4160520" cy="6437376"/>
          </a:xfrm>
          <a:prstGeom prst="rect">
            <a:avLst/>
          </a:prstGeom>
          <a:solidFill>
            <a:srgbClr val="263B66"/>
          </a:solidFill>
          <a:ln w="12700">
            <a:solidFill>
              <a:srgbClr val="263B66"/>
            </a:solidFill>
            <a:prstDash val="solid"/>
          </a:ln>
        </p:spPr>
      </p:sp>
      <p:sp>
        <p:nvSpPr>
          <p:cNvPr id="4" name="Text 2"/>
          <p:cNvSpPr/>
          <p:nvPr/>
        </p:nvSpPr>
        <p:spPr>
          <a:xfrm>
            <a:off x="595906" y="2070652"/>
            <a:ext cx="2971800" cy="1664695"/>
          </a:xfrm>
          <a:prstGeom prst="rect">
            <a:avLst/>
          </a:prstGeom>
          <a:noFill/>
          <a:ln/>
        </p:spPr>
        <p:txBody>
          <a:bodyPr wrap="square" lIns="0" tIns="0" rIns="0" bIns="0" rtlCol="0" anchor="ctr">
            <a:normAutofit/>
          </a:bodyPr>
          <a:lstStyle/>
          <a:p>
            <a:pPr marL="0" indent="0">
              <a:buNone/>
            </a:pPr>
            <a:r>
              <a:rPr lang="en-US" sz="2700" b="1" dirty="0">
                <a:solidFill>
                  <a:srgbClr val="FFFFFF"/>
                </a:solidFill>
              </a:rPr>
              <a:t>HIGH-PERFORMANCE</a:t>
            </a:r>
            <a:endParaRPr lang="en-US" sz="2700" dirty="0"/>
          </a:p>
          <a:p>
            <a:pPr marL="0" indent="0">
              <a:buNone/>
            </a:pPr>
            <a:r>
              <a:rPr lang="en-US" sz="2700" b="1" dirty="0">
                <a:solidFill>
                  <a:srgbClr val="FFFFFF"/>
                </a:solidFill>
              </a:rPr>
              <a:t>ALGORITHMS FOR</a:t>
            </a:r>
            <a:endParaRPr lang="en-US" sz="2700" dirty="0"/>
          </a:p>
          <a:p>
            <a:pPr marL="0" indent="0">
              <a:buNone/>
            </a:pPr>
            <a:r>
              <a:rPr lang="en-US" sz="2700" b="1" dirty="0">
                <a:solidFill>
                  <a:srgbClr val="FFFFFF"/>
                </a:solidFill>
              </a:rPr>
              <a:t>TOMOGRAPHY</a:t>
            </a:r>
            <a:endParaRPr lang="en-US" sz="2700" dirty="0"/>
          </a:p>
        </p:txBody>
      </p:sp>
      <p:sp>
        <p:nvSpPr>
          <p:cNvPr id="5" name="Text 3"/>
          <p:cNvSpPr/>
          <p:nvPr/>
        </p:nvSpPr>
        <p:spPr>
          <a:xfrm>
            <a:off x="4709160" y="1298448"/>
            <a:ext cx="6629400" cy="777240"/>
          </a:xfrm>
          <a:prstGeom prst="rect">
            <a:avLst/>
          </a:prstGeom>
          <a:noFill/>
          <a:ln/>
        </p:spPr>
        <p:txBody>
          <a:bodyPr wrap="square" lIns="0" tIns="0" rIns="0" bIns="0" rtlCol="0" anchor="ctr">
            <a:normAutofit/>
          </a:bodyPr>
          <a:lstStyle/>
          <a:p>
            <a:pPr marL="0" indent="0">
              <a:buNone/>
            </a:pPr>
            <a:r>
              <a:rPr lang="en-US" sz="2500" b="1" dirty="0">
                <a:solidFill>
                  <a:srgbClr val="263B66"/>
                </a:solidFill>
              </a:rPr>
              <a:t>Multi-scale correction of optical diffusion in X-ray tomography</a:t>
            </a:r>
            <a:endParaRPr lang="en-US" sz="2500" dirty="0"/>
          </a:p>
        </p:txBody>
      </p:sp>
      <p:sp>
        <p:nvSpPr>
          <p:cNvPr id="6" name="Text 4"/>
          <p:cNvSpPr/>
          <p:nvPr/>
        </p:nvSpPr>
        <p:spPr>
          <a:xfrm>
            <a:off x="4736592" y="2423160"/>
            <a:ext cx="5303520" cy="1051560"/>
          </a:xfrm>
          <a:prstGeom prst="rect">
            <a:avLst/>
          </a:prstGeom>
          <a:noFill/>
          <a:ln/>
        </p:spPr>
        <p:txBody>
          <a:bodyPr wrap="square" lIns="254" tIns="254" rIns="254" bIns="254" rtlCol="0" anchor="ctr"/>
          <a:lstStyle/>
          <a:p>
            <a:pPr marL="0" indent="0">
              <a:buNone/>
            </a:pPr>
            <a:r>
              <a:rPr lang="en-US" sz="1600" dirty="0">
                <a:solidFill>
                  <a:srgbClr val="1F2937"/>
                </a:solidFill>
              </a:rPr>
              <a:t>Rana </a:t>
            </a:r>
            <a:r>
              <a:rPr lang="en-US" sz="1600" dirty="0" err="1">
                <a:solidFill>
                  <a:srgbClr val="1F2937"/>
                </a:solidFill>
              </a:rPr>
              <a:t>Alouani</a:t>
            </a:r>
            <a:endParaRPr lang="en-US" sz="1600" dirty="0" err="1"/>
          </a:p>
          <a:p>
            <a:r>
              <a:rPr lang="en-US" sz="1600">
                <a:solidFill>
                  <a:srgbClr val="1F2937"/>
                </a:solidFill>
              </a:rPr>
              <a:t>ESRF - Summer internship 2026</a:t>
            </a:r>
            <a:endParaRPr lang="en-US" sz="1600"/>
          </a:p>
          <a:p>
            <a:r>
              <a:rPr lang="en-US" sz="1600" dirty="0">
                <a:solidFill>
                  <a:srgbClr val="1F2937"/>
                </a:solidFill>
              </a:rPr>
              <a:t>Supervisor: Alessandro Mirone</a:t>
            </a:r>
            <a:endParaRPr lang="en-US" sz="1600">
              <a:solidFill>
                <a:srgbClr val="000000"/>
              </a:solidFill>
            </a:endParaRPr>
          </a:p>
        </p:txBody>
      </p:sp>
      <p:sp>
        <p:nvSpPr>
          <p:cNvPr id="7" name="Shape 5"/>
          <p:cNvSpPr/>
          <p:nvPr/>
        </p:nvSpPr>
        <p:spPr>
          <a:xfrm>
            <a:off x="4709159" y="3886199"/>
            <a:ext cx="7249602" cy="1334053"/>
          </a:xfrm>
          <a:prstGeom prst="roundRect">
            <a:avLst>
              <a:gd name="adj" fmla="val 8000"/>
            </a:avLst>
          </a:prstGeom>
          <a:solidFill>
            <a:srgbClr val="E9EFF7"/>
          </a:solidFill>
          <a:ln w="12700">
            <a:solidFill>
              <a:srgbClr val="C9D3E2"/>
            </a:solidFill>
            <a:prstDash val="solid"/>
          </a:ln>
        </p:spPr>
      </p:sp>
      <p:sp>
        <p:nvSpPr>
          <p:cNvPr id="8" name="Text 6"/>
          <p:cNvSpPr/>
          <p:nvPr/>
        </p:nvSpPr>
        <p:spPr>
          <a:xfrm>
            <a:off x="4983480" y="3887040"/>
            <a:ext cx="1630238" cy="449468"/>
          </a:xfrm>
          <a:prstGeom prst="rect">
            <a:avLst/>
          </a:prstGeom>
          <a:noFill/>
          <a:ln/>
        </p:spPr>
        <p:txBody>
          <a:bodyPr wrap="square" lIns="762" tIns="762" rIns="762" bIns="762" rtlCol="0" anchor="ctr">
            <a:normAutofit/>
          </a:bodyPr>
          <a:lstStyle/>
          <a:p>
            <a:pPr marL="0" indent="0" algn="l">
              <a:buNone/>
            </a:pPr>
            <a:r>
              <a:rPr lang="en-US" sz="1200" b="1" dirty="0">
                <a:solidFill>
                  <a:srgbClr val="3E6DA9"/>
                </a:solidFill>
              </a:rPr>
              <a:t>Central question</a:t>
            </a:r>
            <a:endParaRPr lang="en-US" sz="1200" dirty="0"/>
          </a:p>
        </p:txBody>
      </p:sp>
      <p:sp>
        <p:nvSpPr>
          <p:cNvPr id="9" name="Text 7"/>
          <p:cNvSpPr/>
          <p:nvPr/>
        </p:nvSpPr>
        <p:spPr>
          <a:xfrm>
            <a:off x="4983480" y="4330810"/>
            <a:ext cx="6841431" cy="627003"/>
          </a:xfrm>
          <a:prstGeom prst="rect">
            <a:avLst/>
          </a:prstGeom>
          <a:noFill/>
          <a:ln/>
        </p:spPr>
        <p:txBody>
          <a:bodyPr wrap="square" lIns="762" tIns="762" rIns="762" bIns="762" rtlCol="0" anchor="ctr">
            <a:normAutofit/>
          </a:bodyPr>
          <a:lstStyle/>
          <a:p>
            <a:pPr marL="0" indent="0" algn="l">
              <a:buNone/>
            </a:pPr>
            <a:r>
              <a:rPr lang="en-US" sz="1700" b="1" dirty="0">
                <a:solidFill>
                  <a:srgbClr val="263B66"/>
                </a:solidFill>
              </a:rPr>
              <a:t>How can we correct the diffusion halo without paying the computational cost of the full correction?</a:t>
            </a:r>
            <a:endParaRPr lang="en-US" sz="1700" dirty="0"/>
          </a:p>
        </p:txBody>
      </p:sp>
      <p:sp>
        <p:nvSpPr>
          <p:cNvPr id="25" name="Slide Number Placeholder 0"/>
          <p:cNvSpPr>
            <a:spLocks noGrp="1"/>
          </p:cNvSpPr>
          <p:nvPr>
            <p:ph type="sldNum" sz="quarter" idx="4294967295"/>
          </p:nvPr>
        </p:nvSpPr>
        <p:spPr>
          <a:xfrm>
            <a:off x="11722608" y="6556248"/>
            <a:ext cx="22860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6B7280"/>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347472"/>
            <a:ext cx="10972800" cy="411480"/>
          </a:xfrm>
          <a:prstGeom prst="rect">
            <a:avLst/>
          </a:prstGeom>
          <a:noFill/>
          <a:ln/>
        </p:spPr>
        <p:txBody>
          <a:bodyPr wrap="square" lIns="0" tIns="0" rIns="0" bIns="0" rtlCol="0" anchor="ctr"/>
          <a:lstStyle/>
          <a:p>
            <a:pPr marL="0" indent="0">
              <a:buNone/>
            </a:pPr>
            <a:r>
              <a:rPr lang="en-US" sz="2400" b="1" dirty="0">
                <a:solidFill>
                  <a:srgbClr val="263B66"/>
                </a:solidFill>
              </a:rPr>
              <a:t>Where does the diffusion come from?</a:t>
            </a:r>
            <a:endParaRPr lang="en-US" sz="2400" dirty="0"/>
          </a:p>
        </p:txBody>
      </p:sp>
      <p:sp>
        <p:nvSpPr>
          <p:cNvPr id="3" name="Text 1"/>
          <p:cNvSpPr/>
          <p:nvPr/>
        </p:nvSpPr>
        <p:spPr>
          <a:xfrm>
            <a:off x="612648" y="804672"/>
            <a:ext cx="10881360" cy="256032"/>
          </a:xfrm>
          <a:prstGeom prst="rect">
            <a:avLst/>
          </a:prstGeom>
          <a:noFill/>
          <a:ln/>
        </p:spPr>
        <p:txBody>
          <a:bodyPr wrap="square" lIns="0" tIns="0" rIns="0" bIns="0" rtlCol="0" anchor="ctr"/>
          <a:lstStyle/>
          <a:p>
            <a:pPr marL="0" indent="0">
              <a:buNone/>
            </a:pPr>
            <a:r>
              <a:rPr lang="en-US" sz="1150" dirty="0">
                <a:solidFill>
                  <a:srgbClr val="667085"/>
                </a:solidFill>
              </a:rPr>
              <a:t>From X-rays to the measured projection</a:t>
            </a:r>
            <a:endParaRPr lang="en-US" sz="1150" dirty="0"/>
          </a:p>
        </p:txBody>
      </p:sp>
      <p:sp>
        <p:nvSpPr>
          <p:cNvPr id="4" name="Shape 2"/>
          <p:cNvSpPr/>
          <p:nvPr/>
        </p:nvSpPr>
        <p:spPr>
          <a:xfrm>
            <a:off x="822960" y="1554480"/>
            <a:ext cx="1645920" cy="685800"/>
          </a:xfrm>
          <a:prstGeom prst="roundRect">
            <a:avLst>
              <a:gd name="adj" fmla="val 10667"/>
            </a:avLst>
          </a:prstGeom>
          <a:solidFill>
            <a:srgbClr val="FFFFFF"/>
          </a:solidFill>
          <a:ln w="12700">
            <a:solidFill>
              <a:srgbClr val="C9D3E2"/>
            </a:solidFill>
            <a:prstDash val="solid"/>
          </a:ln>
        </p:spPr>
        <p:txBody>
          <a:bodyPr/>
          <a:lstStyle/>
          <a:p>
            <a:endParaRPr/>
          </a:p>
        </p:txBody>
      </p:sp>
      <p:sp>
        <p:nvSpPr>
          <p:cNvPr id="5" name="Text 3"/>
          <p:cNvSpPr/>
          <p:nvPr/>
        </p:nvSpPr>
        <p:spPr>
          <a:xfrm>
            <a:off x="822960" y="1554480"/>
            <a:ext cx="1645920" cy="685800"/>
          </a:xfrm>
          <a:prstGeom prst="rect">
            <a:avLst/>
          </a:prstGeom>
          <a:noFill/>
          <a:ln/>
        </p:spPr>
        <p:txBody>
          <a:bodyPr wrap="square" lIns="762" tIns="762" rIns="762" bIns="762" rtlCol="0" anchor="ctr">
            <a:normAutofit/>
          </a:bodyPr>
          <a:lstStyle/>
          <a:p>
            <a:pPr marL="0" indent="0" algn="ctr">
              <a:buNone/>
            </a:pPr>
            <a:r>
              <a:rPr lang="en-US" sz="1600" b="1" dirty="0">
                <a:solidFill>
                  <a:srgbClr val="1F2937"/>
                </a:solidFill>
              </a:rPr>
              <a:t>X-rays</a:t>
            </a:r>
            <a:endParaRPr lang="en-US" sz="1600" dirty="0"/>
          </a:p>
        </p:txBody>
      </p:sp>
      <p:sp>
        <p:nvSpPr>
          <p:cNvPr id="6" name="Shape 4"/>
          <p:cNvSpPr/>
          <p:nvPr/>
        </p:nvSpPr>
        <p:spPr>
          <a:xfrm>
            <a:off x="2578608" y="1737360"/>
            <a:ext cx="594360" cy="320040"/>
          </a:xfrm>
          <a:prstGeom prst="chevron">
            <a:avLst/>
          </a:prstGeom>
          <a:solidFill>
            <a:srgbClr val="3E6DA9"/>
          </a:solidFill>
          <a:ln w="12700">
            <a:solidFill>
              <a:srgbClr val="3E6DA9"/>
            </a:solidFill>
            <a:prstDash val="solid"/>
          </a:ln>
        </p:spPr>
        <p:txBody>
          <a:bodyPr/>
          <a:lstStyle/>
          <a:p>
            <a:endParaRPr/>
          </a:p>
        </p:txBody>
      </p:sp>
      <p:sp>
        <p:nvSpPr>
          <p:cNvPr id="7" name="Shape 5"/>
          <p:cNvSpPr/>
          <p:nvPr/>
        </p:nvSpPr>
        <p:spPr>
          <a:xfrm>
            <a:off x="3063240" y="1554480"/>
            <a:ext cx="1645920" cy="685800"/>
          </a:xfrm>
          <a:prstGeom prst="roundRect">
            <a:avLst>
              <a:gd name="adj" fmla="val 10667"/>
            </a:avLst>
          </a:prstGeom>
          <a:solidFill>
            <a:srgbClr val="E9EFF7"/>
          </a:solidFill>
          <a:ln w="12700">
            <a:solidFill>
              <a:srgbClr val="3E6DA9"/>
            </a:solidFill>
            <a:prstDash val="solid"/>
          </a:ln>
        </p:spPr>
        <p:txBody>
          <a:bodyPr/>
          <a:lstStyle/>
          <a:p>
            <a:endParaRPr/>
          </a:p>
        </p:txBody>
      </p:sp>
      <p:sp>
        <p:nvSpPr>
          <p:cNvPr id="8" name="Text 6"/>
          <p:cNvSpPr/>
          <p:nvPr/>
        </p:nvSpPr>
        <p:spPr>
          <a:xfrm>
            <a:off x="3063240" y="1554480"/>
            <a:ext cx="1645920" cy="685800"/>
          </a:xfrm>
          <a:prstGeom prst="rect">
            <a:avLst/>
          </a:prstGeom>
          <a:noFill/>
          <a:ln/>
        </p:spPr>
        <p:txBody>
          <a:bodyPr wrap="square" lIns="762" tIns="762" rIns="762" bIns="762" rtlCol="0" anchor="ctr">
            <a:normAutofit/>
          </a:bodyPr>
          <a:lstStyle/>
          <a:p>
            <a:pPr marL="0" indent="0" algn="ctr">
              <a:buNone/>
            </a:pPr>
            <a:r>
              <a:rPr lang="en-US" sz="1600" b="1" dirty="0">
                <a:solidFill>
                  <a:srgbClr val="1F2937"/>
                </a:solidFill>
              </a:rPr>
              <a:t>Scintillator</a:t>
            </a:r>
            <a:endParaRPr lang="en-US" sz="1600" dirty="0"/>
          </a:p>
        </p:txBody>
      </p:sp>
      <p:sp>
        <p:nvSpPr>
          <p:cNvPr id="9" name="Shape 7"/>
          <p:cNvSpPr/>
          <p:nvPr/>
        </p:nvSpPr>
        <p:spPr>
          <a:xfrm>
            <a:off x="4818888" y="1737360"/>
            <a:ext cx="594360" cy="320040"/>
          </a:xfrm>
          <a:prstGeom prst="chevron">
            <a:avLst/>
          </a:prstGeom>
          <a:solidFill>
            <a:srgbClr val="3E6DA9"/>
          </a:solidFill>
          <a:ln w="12700">
            <a:solidFill>
              <a:srgbClr val="3E6DA9"/>
            </a:solidFill>
            <a:prstDash val="solid"/>
          </a:ln>
        </p:spPr>
        <p:txBody>
          <a:bodyPr/>
          <a:lstStyle/>
          <a:p>
            <a:endParaRPr/>
          </a:p>
        </p:txBody>
      </p:sp>
      <p:sp>
        <p:nvSpPr>
          <p:cNvPr id="10" name="Shape 8"/>
          <p:cNvSpPr/>
          <p:nvPr/>
        </p:nvSpPr>
        <p:spPr>
          <a:xfrm>
            <a:off x="5486400" y="1554480"/>
            <a:ext cx="1645920" cy="685800"/>
          </a:xfrm>
          <a:prstGeom prst="roundRect">
            <a:avLst>
              <a:gd name="adj" fmla="val 10667"/>
            </a:avLst>
          </a:prstGeom>
          <a:solidFill>
            <a:srgbClr val="FFFFFF"/>
          </a:solidFill>
          <a:ln w="12700">
            <a:solidFill>
              <a:srgbClr val="C9D3E2"/>
            </a:solidFill>
            <a:prstDash val="solid"/>
          </a:ln>
        </p:spPr>
        <p:txBody>
          <a:bodyPr/>
          <a:lstStyle/>
          <a:p>
            <a:endParaRPr/>
          </a:p>
        </p:txBody>
      </p:sp>
      <p:sp>
        <p:nvSpPr>
          <p:cNvPr id="11" name="Text 9"/>
          <p:cNvSpPr/>
          <p:nvPr/>
        </p:nvSpPr>
        <p:spPr>
          <a:xfrm>
            <a:off x="5486400" y="1554480"/>
            <a:ext cx="1645920" cy="685800"/>
          </a:xfrm>
          <a:prstGeom prst="rect">
            <a:avLst/>
          </a:prstGeom>
          <a:noFill/>
          <a:ln/>
        </p:spPr>
        <p:txBody>
          <a:bodyPr wrap="square" lIns="762" tIns="762" rIns="762" bIns="762" rtlCol="0" anchor="ctr">
            <a:normAutofit/>
          </a:bodyPr>
          <a:lstStyle/>
          <a:p>
            <a:pPr marL="0" indent="0" algn="ctr">
              <a:buNone/>
            </a:pPr>
            <a:r>
              <a:rPr lang="en-US" sz="1600" b="1" dirty="0">
                <a:solidFill>
                  <a:srgbClr val="1F2937"/>
                </a:solidFill>
              </a:rPr>
              <a:t>Visible light</a:t>
            </a:r>
            <a:endParaRPr lang="en-US" sz="1600" dirty="0"/>
          </a:p>
        </p:txBody>
      </p:sp>
      <p:sp>
        <p:nvSpPr>
          <p:cNvPr id="12" name="Shape 10"/>
          <p:cNvSpPr/>
          <p:nvPr/>
        </p:nvSpPr>
        <p:spPr>
          <a:xfrm>
            <a:off x="7242048" y="1737360"/>
            <a:ext cx="594360" cy="320040"/>
          </a:xfrm>
          <a:prstGeom prst="chevron">
            <a:avLst/>
          </a:prstGeom>
          <a:solidFill>
            <a:srgbClr val="3E6DA9"/>
          </a:solidFill>
          <a:ln w="12700">
            <a:solidFill>
              <a:srgbClr val="3E6DA9"/>
            </a:solidFill>
            <a:prstDash val="solid"/>
          </a:ln>
        </p:spPr>
        <p:txBody>
          <a:bodyPr/>
          <a:lstStyle/>
          <a:p>
            <a:endParaRPr/>
          </a:p>
        </p:txBody>
      </p:sp>
      <p:sp>
        <p:nvSpPr>
          <p:cNvPr id="13" name="Shape 11"/>
          <p:cNvSpPr/>
          <p:nvPr/>
        </p:nvSpPr>
        <p:spPr>
          <a:xfrm>
            <a:off x="8001000" y="1554480"/>
            <a:ext cx="1645920" cy="685800"/>
          </a:xfrm>
          <a:prstGeom prst="roundRect">
            <a:avLst>
              <a:gd name="adj" fmla="val 10667"/>
            </a:avLst>
          </a:prstGeom>
          <a:solidFill>
            <a:srgbClr val="FFFFFF"/>
          </a:solidFill>
          <a:ln w="12700">
            <a:solidFill>
              <a:srgbClr val="C9D3E2"/>
            </a:solidFill>
            <a:prstDash val="solid"/>
          </a:ln>
        </p:spPr>
        <p:txBody>
          <a:bodyPr/>
          <a:lstStyle/>
          <a:p>
            <a:endParaRPr/>
          </a:p>
        </p:txBody>
      </p:sp>
      <p:sp>
        <p:nvSpPr>
          <p:cNvPr id="14" name="Text 12"/>
          <p:cNvSpPr/>
          <p:nvPr/>
        </p:nvSpPr>
        <p:spPr>
          <a:xfrm>
            <a:off x="8001000" y="1554480"/>
            <a:ext cx="1645920" cy="685800"/>
          </a:xfrm>
          <a:prstGeom prst="rect">
            <a:avLst/>
          </a:prstGeom>
          <a:noFill/>
          <a:ln/>
        </p:spPr>
        <p:txBody>
          <a:bodyPr wrap="square" lIns="762" tIns="762" rIns="762" bIns="762" rtlCol="0" anchor="ctr">
            <a:normAutofit/>
          </a:bodyPr>
          <a:lstStyle/>
          <a:p>
            <a:pPr marL="0" indent="0" algn="ctr">
              <a:buNone/>
            </a:pPr>
            <a:r>
              <a:rPr lang="en-US" sz="1600" b="1" dirty="0">
                <a:solidFill>
                  <a:srgbClr val="1F2937"/>
                </a:solidFill>
              </a:rPr>
              <a:t>Camera</a:t>
            </a:r>
            <a:endParaRPr lang="en-US" sz="1600" dirty="0"/>
          </a:p>
        </p:txBody>
      </p:sp>
      <p:sp>
        <p:nvSpPr>
          <p:cNvPr id="15" name="Shape 13"/>
          <p:cNvSpPr/>
          <p:nvPr/>
        </p:nvSpPr>
        <p:spPr>
          <a:xfrm>
            <a:off x="3154680" y="2788920"/>
            <a:ext cx="5852160" cy="777240"/>
          </a:xfrm>
          <a:prstGeom prst="roundRect">
            <a:avLst>
              <a:gd name="adj" fmla="val 9412"/>
            </a:avLst>
          </a:prstGeom>
          <a:solidFill>
            <a:srgbClr val="FFFFFF"/>
          </a:solidFill>
          <a:ln w="12700">
            <a:solidFill>
              <a:srgbClr val="C9D3E2"/>
            </a:solidFill>
            <a:prstDash val="solid"/>
          </a:ln>
        </p:spPr>
        <p:txBody>
          <a:bodyPr/>
          <a:lstStyle/>
          <a:p>
            <a:endParaRPr/>
          </a:p>
        </p:txBody>
      </p:sp>
      <p:sp>
        <p:nvSpPr>
          <p:cNvPr id="17" name="Text 15"/>
          <p:cNvSpPr/>
          <p:nvPr/>
        </p:nvSpPr>
        <p:spPr>
          <a:xfrm>
            <a:off x="3577424" y="3498354"/>
            <a:ext cx="5271716" cy="1347966"/>
          </a:xfrm>
          <a:prstGeom prst="rect">
            <a:avLst/>
          </a:prstGeom>
          <a:noFill/>
          <a:ln/>
        </p:spPr>
        <p:txBody>
          <a:bodyPr wrap="square" lIns="508" tIns="508" rIns="508" bIns="508" rtlCol="0" anchor="ctr">
            <a:normAutofit/>
          </a:bodyPr>
          <a:lstStyle/>
          <a:p>
            <a:pPr>
              <a:defRPr sz="1300">
                <a:solidFill>
                  <a:srgbClr val="5A646E"/>
                </a:solidFill>
              </a:defRPr>
            </a:pPr>
            <a:r>
              <a:rPr sz="1400" dirty="0" err="1">
                <a:latin typeface="Calibri"/>
                <a:ea typeface="Calibri"/>
                <a:cs typeface="Calibri"/>
              </a:rPr>
              <a:t>I_meas</a:t>
            </a:r>
            <a:r>
              <a:rPr sz="1400" dirty="0">
                <a:latin typeface="Calibri"/>
                <a:ea typeface="Calibri"/>
                <a:cs typeface="Calibri"/>
              </a:rPr>
              <a:t>: </a:t>
            </a:r>
            <a:r>
              <a:rPr lang="fr-FR" sz="1400" dirty="0">
                <a:latin typeface="Calibri"/>
                <a:ea typeface="Calibri"/>
                <a:cs typeface="Calibri"/>
              </a:rPr>
              <a:t>   </a:t>
            </a:r>
            <a:r>
              <a:rPr sz="1400" dirty="0" err="1">
                <a:latin typeface="Calibri"/>
                <a:ea typeface="Calibri"/>
                <a:cs typeface="Calibri"/>
              </a:rPr>
              <a:t>measured</a:t>
            </a:r>
            <a:r>
              <a:rPr sz="1400" dirty="0">
                <a:latin typeface="Calibri"/>
                <a:ea typeface="Calibri"/>
                <a:cs typeface="Calibri"/>
              </a:rPr>
              <a:t> detector projection</a:t>
            </a:r>
            <a:endParaRPr lang="fr-FR" sz="1400" dirty="0">
              <a:latin typeface="Calibri"/>
              <a:ea typeface="Calibri"/>
              <a:cs typeface="Calibri"/>
            </a:endParaRPr>
          </a:p>
          <a:p>
            <a:pPr>
              <a:defRPr sz="1300">
                <a:solidFill>
                  <a:srgbClr val="5A646E"/>
                </a:solidFill>
              </a:defRPr>
            </a:pPr>
            <a:r>
              <a:rPr sz="1400" dirty="0" err="1">
                <a:latin typeface="Calibri"/>
                <a:ea typeface="Calibri"/>
                <a:cs typeface="Calibri"/>
              </a:rPr>
              <a:t>I_ideal</a:t>
            </a:r>
            <a:r>
              <a:rPr sz="1400" dirty="0">
                <a:latin typeface="Calibri"/>
                <a:ea typeface="Calibri"/>
                <a:cs typeface="Calibri"/>
              </a:rPr>
              <a:t>: </a:t>
            </a:r>
            <a:r>
              <a:rPr lang="fr-FR" sz="1400" dirty="0">
                <a:latin typeface="Calibri"/>
                <a:ea typeface="Calibri"/>
                <a:cs typeface="Calibri"/>
              </a:rPr>
              <a:t>    </a:t>
            </a:r>
            <a:r>
              <a:rPr sz="1400" dirty="0">
                <a:latin typeface="Calibri"/>
                <a:ea typeface="Calibri"/>
                <a:cs typeface="Calibri"/>
              </a:rPr>
              <a:t>ideal projection before optical diffusion</a:t>
            </a:r>
          </a:p>
          <a:p>
            <a:pPr>
              <a:defRPr sz="1300">
                <a:solidFill>
                  <a:srgbClr val="5A646E"/>
                </a:solidFill>
              </a:defRPr>
            </a:pPr>
            <a:r>
              <a:rPr sz="1400">
                <a:latin typeface="Calibri"/>
                <a:ea typeface="Calibri"/>
                <a:cs typeface="Calibri"/>
              </a:rPr>
              <a:t>K: </a:t>
            </a:r>
            <a:r>
              <a:rPr lang="fr-FR" sz="1400" dirty="0">
                <a:latin typeface="Calibri"/>
                <a:ea typeface="Calibri"/>
                <a:cs typeface="Calibri"/>
              </a:rPr>
              <a:t>              </a:t>
            </a:r>
            <a:r>
              <a:rPr sz="1400">
                <a:latin typeface="Calibri"/>
                <a:ea typeface="Calibri"/>
                <a:cs typeface="Calibri"/>
              </a:rPr>
              <a:t>spatial diffusion kernel</a:t>
            </a:r>
            <a:endParaRPr sz="1400" dirty="0">
              <a:latin typeface="Calibri"/>
              <a:ea typeface="Calibri"/>
              <a:cs typeface="Calibri"/>
            </a:endParaRPr>
          </a:p>
          <a:p>
            <a:pPr>
              <a:defRPr sz="1300">
                <a:solidFill>
                  <a:srgbClr val="5A646E"/>
                </a:solidFill>
              </a:defRPr>
            </a:pPr>
            <a:r>
              <a:rPr sz="1400" dirty="0">
                <a:latin typeface="Calibri"/>
                <a:ea typeface="Calibri"/>
                <a:cs typeface="Calibri"/>
              </a:rPr>
              <a:t>∗: </a:t>
            </a:r>
            <a:r>
              <a:rPr lang="fr-FR" sz="1400" dirty="0">
                <a:latin typeface="Calibri"/>
                <a:ea typeface="Calibri"/>
                <a:cs typeface="Calibri"/>
              </a:rPr>
              <a:t>              </a:t>
            </a:r>
            <a:r>
              <a:rPr sz="1400">
                <a:latin typeface="Calibri"/>
                <a:ea typeface="Calibri"/>
                <a:cs typeface="Calibri"/>
              </a:rPr>
              <a:t>convolution operator</a:t>
            </a:r>
            <a:endParaRPr sz="1400" dirty="0">
              <a:latin typeface="Calibri"/>
              <a:ea typeface="Calibri"/>
              <a:cs typeface="Calibri"/>
            </a:endParaRPr>
          </a:p>
        </p:txBody>
      </p:sp>
      <p:sp>
        <p:nvSpPr>
          <p:cNvPr id="18" name="Shape 16"/>
          <p:cNvSpPr/>
          <p:nvPr/>
        </p:nvSpPr>
        <p:spPr>
          <a:xfrm>
            <a:off x="1005840" y="5212080"/>
            <a:ext cx="10058400" cy="640080"/>
          </a:xfrm>
          <a:prstGeom prst="roundRect">
            <a:avLst>
              <a:gd name="adj" fmla="val 11429"/>
            </a:avLst>
          </a:prstGeom>
          <a:solidFill>
            <a:srgbClr val="E9EFF7"/>
          </a:solidFill>
          <a:ln w="12700">
            <a:solidFill>
              <a:srgbClr val="C9D3E2"/>
            </a:solidFill>
            <a:prstDash val="solid"/>
          </a:ln>
        </p:spPr>
      </p:sp>
      <p:sp>
        <p:nvSpPr>
          <p:cNvPr id="19" name="Text 17"/>
          <p:cNvSpPr/>
          <p:nvPr/>
        </p:nvSpPr>
        <p:spPr>
          <a:xfrm>
            <a:off x="1234440" y="5340096"/>
            <a:ext cx="9601200" cy="347472"/>
          </a:xfrm>
          <a:prstGeom prst="rect">
            <a:avLst/>
          </a:prstGeom>
          <a:noFill/>
          <a:ln/>
        </p:spPr>
        <p:txBody>
          <a:bodyPr wrap="square" lIns="762" tIns="762" rIns="762" bIns="762" rtlCol="0" anchor="ctr">
            <a:normAutofit/>
          </a:bodyPr>
          <a:lstStyle/>
          <a:p>
            <a:pPr marL="0" indent="0" algn="ctr">
              <a:buNone/>
            </a:pPr>
            <a:r>
              <a:rPr lang="en-US" sz="1800" b="1" dirty="0">
                <a:solidFill>
                  <a:srgbClr val="263B66"/>
                </a:solidFill>
              </a:rPr>
              <a:t>Light generated in the scintillator spreads before reaching the detector.</a:t>
            </a:r>
            <a:endParaRPr lang="en-US" sz="1800" dirty="0"/>
          </a:p>
        </p:txBody>
      </p:sp>
      <p:sp>
        <p:nvSpPr>
          <p:cNvPr id="25" name="Slide Number Placeholder 0"/>
          <p:cNvSpPr>
            <a:spLocks noGrp="1"/>
          </p:cNvSpPr>
          <p:nvPr>
            <p:ph type="sldNum" sz="quarter" idx="4294967295"/>
          </p:nvPr>
        </p:nvSpPr>
        <p:spPr>
          <a:xfrm>
            <a:off x="11722608" y="6556248"/>
            <a:ext cx="22860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6B7280"/>
                </a:solidFill>
              </a:defRPr>
            </a:lvl1pPr>
          </a:lstStyle>
          <a:p>
            <a:pPr algn="l"/>
            <a:fld id="{F7021451-1387-4CA6-816F-3879F97B5CBC}" type="slidenum">
              <a:rPr lang="en-US" b="0"/>
              <a:t>2</a:t>
            </a:fld>
            <a:endParaRPr lang="en-US"/>
          </a:p>
        </p:txBody>
      </p:sp>
      <p:pic>
        <p:nvPicPr>
          <p:cNvPr id="26" name="Picture 25" descr="s2.png"/>
          <p:cNvPicPr>
            <a:picLocks noChangeAspect="1"/>
          </p:cNvPicPr>
          <p:nvPr/>
        </p:nvPicPr>
        <p:blipFill>
          <a:blip r:embed="rId3"/>
          <a:stretch>
            <a:fillRect/>
          </a:stretch>
        </p:blipFill>
        <p:spPr>
          <a:xfrm>
            <a:off x="3061694" y="2846744"/>
            <a:ext cx="6126480" cy="65836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47472"/>
            <a:ext cx="10972800" cy="411480"/>
          </a:xfrm>
          <a:prstGeom prst="rect">
            <a:avLst/>
          </a:prstGeom>
          <a:noFill/>
          <a:ln/>
        </p:spPr>
        <p:txBody>
          <a:bodyPr wrap="square" lIns="0" tIns="0" rIns="0" bIns="0" rtlCol="0" anchor="ctr"/>
          <a:lstStyle/>
          <a:p>
            <a:pPr marL="0" indent="0">
              <a:buNone/>
            </a:pPr>
            <a:r>
              <a:rPr lang="en-US" sz="2400" b="1" dirty="0">
                <a:solidFill>
                  <a:srgbClr val="263B66"/>
                </a:solidFill>
              </a:rPr>
              <a:t>The diffusion is multi-scale</a:t>
            </a:r>
            <a:endParaRPr lang="en-US" sz="2400" dirty="0"/>
          </a:p>
        </p:txBody>
      </p:sp>
      <p:sp>
        <p:nvSpPr>
          <p:cNvPr id="3" name="Text 1"/>
          <p:cNvSpPr/>
          <p:nvPr/>
        </p:nvSpPr>
        <p:spPr>
          <a:xfrm>
            <a:off x="612648" y="804672"/>
            <a:ext cx="10881360" cy="256032"/>
          </a:xfrm>
          <a:prstGeom prst="rect">
            <a:avLst/>
          </a:prstGeom>
          <a:noFill/>
          <a:ln/>
        </p:spPr>
        <p:txBody>
          <a:bodyPr wrap="square" lIns="0" tIns="0" rIns="0" bIns="0" rtlCol="0" anchor="ctr"/>
          <a:lstStyle/>
          <a:p>
            <a:pPr marL="0" indent="0">
              <a:buNone/>
            </a:pPr>
            <a:r>
              <a:rPr lang="en-US" dirty="0">
                <a:latin typeface="Calibri"/>
                <a:ea typeface="Calibri"/>
                <a:cs typeface="Calibri"/>
              </a:rPr>
              <a:t>Several characteristic spatial lengths coexist in the same kernel</a:t>
            </a:r>
          </a:p>
        </p:txBody>
      </p:sp>
      <p:sp>
        <p:nvSpPr>
          <p:cNvPr id="4" name="Shape 2"/>
          <p:cNvSpPr/>
          <p:nvPr/>
        </p:nvSpPr>
        <p:spPr>
          <a:xfrm>
            <a:off x="685800" y="1234440"/>
            <a:ext cx="4800600" cy="777240"/>
          </a:xfrm>
          <a:prstGeom prst="roundRect">
            <a:avLst>
              <a:gd name="adj" fmla="val 9412"/>
            </a:avLst>
          </a:prstGeom>
          <a:solidFill>
            <a:srgbClr val="FFFFFF"/>
          </a:solidFill>
          <a:ln w="12700">
            <a:solidFill>
              <a:srgbClr val="C9D3E2"/>
            </a:solidFill>
            <a:prstDash val="solid"/>
          </a:ln>
        </p:spPr>
        <p:txBody>
          <a:bodyPr/>
          <a:lstStyle/>
          <a:p>
            <a:endParaRPr/>
          </a:p>
        </p:txBody>
      </p:sp>
      <p:sp>
        <p:nvSpPr>
          <p:cNvPr id="6" name="Text 4"/>
          <p:cNvSpPr/>
          <p:nvPr/>
        </p:nvSpPr>
        <p:spPr>
          <a:xfrm>
            <a:off x="822960" y="2134704"/>
            <a:ext cx="4583043" cy="1522896"/>
          </a:xfrm>
          <a:prstGeom prst="rect">
            <a:avLst/>
          </a:prstGeom>
          <a:noFill/>
          <a:ln/>
        </p:spPr>
        <p:txBody>
          <a:bodyPr wrap="square" lIns="508" tIns="508" rIns="508" bIns="508" rtlCol="0" anchor="ctr">
            <a:normAutofit/>
          </a:bodyPr>
          <a:lstStyle/>
          <a:p>
            <a:pPr>
              <a:defRPr sz="1150">
                <a:solidFill>
                  <a:srgbClr val="5A646E"/>
                </a:solidFill>
              </a:defRPr>
            </a:pPr>
            <a:r>
              <a:rPr lang="fr-FR" sz="1300" dirty="0">
                <a:latin typeface="Calibri"/>
                <a:ea typeface="Calibri"/>
                <a:cs typeface="Calibri"/>
              </a:rPr>
              <a:t>r </a:t>
            </a:r>
            <a:r>
              <a:rPr sz="1300" dirty="0">
                <a:latin typeface="Calibri"/>
                <a:ea typeface="Calibri"/>
                <a:cs typeface="Calibri"/>
              </a:rPr>
              <a:t>: </a:t>
            </a:r>
            <a:r>
              <a:rPr lang="fr-FR" sz="1300" dirty="0">
                <a:latin typeface="Calibri"/>
                <a:ea typeface="Calibri"/>
                <a:cs typeface="Calibri"/>
              </a:rPr>
              <a:t>   </a:t>
            </a:r>
            <a:r>
              <a:rPr sz="1300" dirty="0">
                <a:latin typeface="Calibri"/>
                <a:ea typeface="Calibri"/>
                <a:cs typeface="Calibri"/>
              </a:rPr>
              <a:t>distance </a:t>
            </a:r>
            <a:r>
              <a:rPr sz="1300" dirty="0" err="1">
                <a:latin typeface="Calibri"/>
                <a:ea typeface="Calibri"/>
                <a:cs typeface="Calibri"/>
              </a:rPr>
              <a:t>from</a:t>
            </a:r>
            <a:r>
              <a:rPr sz="1300" dirty="0">
                <a:latin typeface="Calibri"/>
                <a:ea typeface="Calibri"/>
                <a:cs typeface="Calibri"/>
              </a:rPr>
              <a:t> the kernel center</a:t>
            </a:r>
            <a:endParaRPr lang="fr-FR" sz="1300" dirty="0">
              <a:latin typeface="Calibri"/>
              <a:ea typeface="Calibri"/>
              <a:cs typeface="Calibri"/>
            </a:endParaRPr>
          </a:p>
          <a:p>
            <a:pPr>
              <a:defRPr sz="1150">
                <a:solidFill>
                  <a:srgbClr val="5A646E"/>
                </a:solidFill>
              </a:defRPr>
            </a:pPr>
            <a:r>
              <a:rPr lang="fr-FR" sz="1300" dirty="0">
                <a:latin typeface="Calibri"/>
                <a:ea typeface="Calibri"/>
                <a:cs typeface="Calibri"/>
              </a:rPr>
              <a:t>Sᵢ </a:t>
            </a:r>
            <a:r>
              <a:rPr sz="1300" dirty="0">
                <a:latin typeface="Calibri"/>
                <a:ea typeface="Calibri"/>
                <a:cs typeface="Calibri"/>
              </a:rPr>
              <a:t>: </a:t>
            </a:r>
            <a:r>
              <a:rPr lang="fr-FR" sz="1300" dirty="0">
                <a:latin typeface="Calibri"/>
                <a:ea typeface="Calibri"/>
                <a:cs typeface="Calibri"/>
              </a:rPr>
              <a:t>  </a:t>
            </a:r>
            <a:r>
              <a:rPr sz="1300" dirty="0">
                <a:latin typeface="Calibri"/>
                <a:ea typeface="Calibri"/>
                <a:cs typeface="Calibri"/>
              </a:rPr>
              <a:t>characteristic diffusion length of component </a:t>
            </a:r>
            <a:r>
              <a:rPr sz="1300" dirty="0" err="1">
                <a:latin typeface="Calibri"/>
                <a:ea typeface="Calibri"/>
                <a:cs typeface="Calibri"/>
              </a:rPr>
              <a:t>i</a:t>
            </a:r>
            <a:endParaRPr sz="1300" dirty="0">
              <a:latin typeface="Calibri"/>
              <a:ea typeface="Calibri"/>
              <a:cs typeface="Calibri"/>
            </a:endParaRPr>
          </a:p>
          <a:p>
            <a:pPr>
              <a:defRPr sz="1150">
                <a:solidFill>
                  <a:srgbClr val="5A646E"/>
                </a:solidFill>
              </a:defRPr>
            </a:pPr>
            <a:r>
              <a:rPr lang="fr-FR" sz="1300" dirty="0">
                <a:latin typeface="Calibri"/>
                <a:ea typeface="Calibri"/>
                <a:cs typeface="Calibri"/>
              </a:rPr>
              <a:t>Fᵢ </a:t>
            </a:r>
            <a:r>
              <a:rPr sz="1300" dirty="0">
                <a:latin typeface="Calibri"/>
                <a:ea typeface="Calibri"/>
                <a:cs typeface="Calibri"/>
              </a:rPr>
              <a:t>: </a:t>
            </a:r>
            <a:r>
              <a:rPr lang="fr-FR" sz="1300" dirty="0">
                <a:latin typeface="Calibri"/>
                <a:ea typeface="Calibri"/>
                <a:cs typeface="Calibri"/>
              </a:rPr>
              <a:t>   </a:t>
            </a:r>
            <a:r>
              <a:rPr sz="1300" dirty="0">
                <a:latin typeface="Calibri"/>
                <a:ea typeface="Calibri"/>
                <a:cs typeface="Calibri"/>
              </a:rPr>
              <a:t>weight / fraction of component </a:t>
            </a:r>
            <a:r>
              <a:rPr sz="1300" dirty="0" err="1">
                <a:latin typeface="Calibri"/>
                <a:ea typeface="Calibri"/>
                <a:cs typeface="Calibri"/>
              </a:rPr>
              <a:t>i</a:t>
            </a:r>
            <a:endParaRPr sz="1300" dirty="0">
              <a:latin typeface="Calibri"/>
              <a:ea typeface="Calibri"/>
              <a:cs typeface="Calibri"/>
            </a:endParaRPr>
          </a:p>
          <a:p>
            <a:pPr>
              <a:defRPr sz="1150">
                <a:solidFill>
                  <a:srgbClr val="5A646E"/>
                </a:solidFill>
              </a:defRPr>
            </a:pPr>
            <a:r>
              <a:rPr sz="1300">
                <a:latin typeface="Calibri"/>
                <a:ea typeface="Calibri"/>
                <a:cs typeface="Calibri"/>
              </a:rPr>
              <a:t>δ(r): </a:t>
            </a:r>
            <a:r>
              <a:rPr lang="fr-FR" sz="1300" dirty="0">
                <a:latin typeface="Calibri"/>
                <a:ea typeface="Calibri"/>
                <a:cs typeface="Calibri"/>
              </a:rPr>
              <a:t> </a:t>
            </a:r>
            <a:r>
              <a:rPr sz="1300">
                <a:latin typeface="Calibri"/>
                <a:ea typeface="Calibri"/>
                <a:cs typeface="Calibri"/>
              </a:rPr>
              <a:t>direct, non-diffused contribution</a:t>
            </a:r>
            <a:endParaRPr sz="1300" dirty="0">
              <a:latin typeface="Calibri"/>
              <a:ea typeface="Calibri"/>
              <a:cs typeface="Calibri"/>
            </a:endParaRPr>
          </a:p>
        </p:txBody>
      </p:sp>
      <p:sp>
        <p:nvSpPr>
          <p:cNvPr id="7" name="Shape 5"/>
          <p:cNvSpPr/>
          <p:nvPr/>
        </p:nvSpPr>
        <p:spPr>
          <a:xfrm>
            <a:off x="731520" y="3977640"/>
            <a:ext cx="4663440" cy="1051560"/>
          </a:xfrm>
          <a:prstGeom prst="roundRect">
            <a:avLst>
              <a:gd name="adj" fmla="val 6957"/>
            </a:avLst>
          </a:prstGeom>
          <a:solidFill>
            <a:srgbClr val="E9EFF7"/>
          </a:solidFill>
          <a:ln w="12700">
            <a:solidFill>
              <a:srgbClr val="C9D3E2"/>
            </a:solidFill>
            <a:prstDash val="solid"/>
          </a:ln>
        </p:spPr>
      </p:sp>
      <p:sp>
        <p:nvSpPr>
          <p:cNvPr id="8" name="Text 6"/>
          <p:cNvSpPr/>
          <p:nvPr/>
        </p:nvSpPr>
        <p:spPr>
          <a:xfrm>
            <a:off x="1005840" y="4178808"/>
            <a:ext cx="4114800" cy="640080"/>
          </a:xfrm>
          <a:prstGeom prst="rect">
            <a:avLst/>
          </a:prstGeom>
          <a:noFill/>
          <a:ln/>
        </p:spPr>
        <p:txBody>
          <a:bodyPr wrap="square" lIns="762" tIns="762" rIns="762" bIns="762" rtlCol="0" anchor="ctr">
            <a:normAutofit/>
          </a:bodyPr>
          <a:lstStyle/>
          <a:p>
            <a:pPr marL="0" indent="0" algn="ctr">
              <a:buNone/>
            </a:pPr>
            <a:r>
              <a:rPr lang="en-US" sz="1800" b="1" dirty="0">
                <a:solidFill>
                  <a:srgbClr val="263B66"/>
                </a:solidFill>
              </a:rPr>
              <a:t>Short range → local variations</a:t>
            </a:r>
            <a:endParaRPr lang="en-US" sz="1800" dirty="0"/>
          </a:p>
          <a:p>
            <a:pPr marL="0" indent="0" algn="ctr">
              <a:buNone/>
            </a:pPr>
            <a:r>
              <a:rPr lang="en-US" sz="1800" b="1" dirty="0">
                <a:solidFill>
                  <a:srgbClr val="263B66"/>
                </a:solidFill>
              </a:rPr>
              <a:t>Long range → extended halo</a:t>
            </a:r>
            <a:endParaRPr lang="en-US" sz="1800" dirty="0"/>
          </a:p>
        </p:txBody>
      </p:sp>
      <p:sp>
        <p:nvSpPr>
          <p:cNvPr id="9" name="Shape 7"/>
          <p:cNvSpPr/>
          <p:nvPr/>
        </p:nvSpPr>
        <p:spPr>
          <a:xfrm>
            <a:off x="5806440" y="1188720"/>
            <a:ext cx="5577840" cy="4434840"/>
          </a:xfrm>
          <a:prstGeom prst="roundRect">
            <a:avLst>
              <a:gd name="adj" fmla="val 1649"/>
            </a:avLst>
          </a:prstGeom>
          <a:solidFill>
            <a:srgbClr val="FFFFFF"/>
          </a:solidFill>
          <a:ln w="12700">
            <a:solidFill>
              <a:srgbClr val="98A2B3"/>
            </a:solidFill>
            <a:prstDash val="solid"/>
          </a:ln>
        </p:spPr>
      </p:sp>
      <p:sp>
        <p:nvSpPr>
          <p:cNvPr id="10" name="Text 8"/>
          <p:cNvSpPr/>
          <p:nvPr/>
        </p:nvSpPr>
        <p:spPr>
          <a:xfrm>
            <a:off x="5943600" y="1353312"/>
            <a:ext cx="5303520" cy="3840480"/>
          </a:xfrm>
          <a:prstGeom prst="rect">
            <a:avLst/>
          </a:prstGeom>
          <a:noFill/>
          <a:ln/>
        </p:spPr>
        <p:txBody>
          <a:bodyPr wrap="square" lIns="635" tIns="635" rIns="635" bIns="635" rtlCol="0" anchor="ctr">
            <a:normAutofit/>
          </a:bodyPr>
          <a:lstStyle/>
          <a:p>
            <a:pPr marL="0" indent="0" algn="ctr">
              <a:buNone/>
            </a:pPr>
            <a:r>
              <a:rPr lang="en-US" sz="1500" b="1" dirty="0">
                <a:solidFill>
                  <a:srgbClr val="667085"/>
                </a:solidFill>
              </a:rPr>
              <a:t>ADD FIGURE</a:t>
            </a:r>
            <a:endParaRPr lang="en-US" sz="1500" dirty="0"/>
          </a:p>
          <a:p>
            <a:pPr marL="0" indent="0" algn="ctr">
              <a:buNone/>
            </a:pPr>
            <a:r>
              <a:rPr lang="en-US" sz="1500" b="1" dirty="0">
                <a:solidFill>
                  <a:srgbClr val="667085"/>
                </a:solidFill>
              </a:rPr>
              <a:t>Real-space diffusion kernel — logarithmic scale</a:t>
            </a:r>
            <a:endParaRPr lang="en-US" sz="1500" dirty="0"/>
          </a:p>
        </p:txBody>
      </p:sp>
      <p:sp>
        <p:nvSpPr>
          <p:cNvPr id="11" name="Text 9"/>
          <p:cNvSpPr/>
          <p:nvPr/>
        </p:nvSpPr>
        <p:spPr>
          <a:xfrm>
            <a:off x="5861304" y="5239512"/>
            <a:ext cx="5468112" cy="310896"/>
          </a:xfrm>
          <a:prstGeom prst="rect">
            <a:avLst/>
          </a:prstGeom>
          <a:noFill/>
          <a:ln/>
        </p:spPr>
        <p:txBody>
          <a:bodyPr wrap="square" lIns="254" tIns="254" rIns="254" bIns="254" rtlCol="0" anchor="ctr">
            <a:noAutofit/>
          </a:bodyPr>
          <a:lstStyle/>
          <a:p>
            <a:pPr algn="ctr"/>
            <a:r>
              <a:rPr lang="en-US" sz="1300">
                <a:ea typeface="+mn-lt"/>
                <a:cs typeface="+mn-lt"/>
              </a:rPr>
              <a:t>Vertical profile of the real-space diffusion kernel ( logarithmic scale )</a:t>
            </a:r>
            <a:endParaRPr lang="fr-FR" sz="1300"/>
          </a:p>
        </p:txBody>
      </p:sp>
      <p:sp>
        <p:nvSpPr>
          <p:cNvPr id="25" name="Slide Number Placeholder 0"/>
          <p:cNvSpPr>
            <a:spLocks noGrp="1"/>
          </p:cNvSpPr>
          <p:nvPr>
            <p:ph type="sldNum" sz="quarter" idx="4294967295"/>
          </p:nvPr>
        </p:nvSpPr>
        <p:spPr>
          <a:xfrm>
            <a:off x="11722608" y="6556248"/>
            <a:ext cx="22860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6B7280"/>
                </a:solidFill>
              </a:defRPr>
            </a:lvl1pPr>
          </a:lstStyle>
          <a:p>
            <a:pPr algn="l"/>
            <a:fld id="{F7021451-1387-4CA6-816F-3879F97B5CBC}" type="slidenum">
              <a:rPr lang="en-US" b="0"/>
              <a:t>3</a:t>
            </a:fld>
            <a:endParaRPr lang="en-US"/>
          </a:p>
        </p:txBody>
      </p:sp>
      <p:pic>
        <p:nvPicPr>
          <p:cNvPr id="26" name="Picture 25" descr="s3.png"/>
          <p:cNvPicPr>
            <a:picLocks noChangeAspect="1"/>
          </p:cNvPicPr>
          <p:nvPr/>
        </p:nvPicPr>
        <p:blipFill>
          <a:blip r:embed="rId3"/>
          <a:stretch>
            <a:fillRect/>
          </a:stretch>
        </p:blipFill>
        <p:spPr>
          <a:xfrm>
            <a:off x="-363329" y="1192518"/>
            <a:ext cx="6603779" cy="1036938"/>
          </a:xfrm>
          <a:prstGeom prst="rect">
            <a:avLst/>
          </a:prstGeom>
        </p:spPr>
      </p:pic>
      <p:pic>
        <p:nvPicPr>
          <p:cNvPr id="5" name="Image 4">
            <a:extLst>
              <a:ext uri="{FF2B5EF4-FFF2-40B4-BE49-F238E27FC236}">
                <a16:creationId xmlns:a16="http://schemas.microsoft.com/office/drawing/2014/main" id="{38C073D2-A999-D165-2C45-73E430AD6202}"/>
              </a:ext>
            </a:extLst>
          </p:cNvPr>
          <p:cNvPicPr>
            <a:picLocks noChangeAspect="1"/>
          </p:cNvPicPr>
          <p:nvPr/>
        </p:nvPicPr>
        <p:blipFill>
          <a:blip r:embed="rId4"/>
          <a:srcRect l="1803" t="11171" r="-255"/>
          <a:stretch>
            <a:fillRect/>
          </a:stretch>
        </p:blipFill>
        <p:spPr>
          <a:xfrm>
            <a:off x="5796436" y="1111414"/>
            <a:ext cx="5598958" cy="412734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47472"/>
            <a:ext cx="10972800" cy="411480"/>
          </a:xfrm>
          <a:prstGeom prst="rect">
            <a:avLst/>
          </a:prstGeom>
          <a:noFill/>
          <a:ln/>
        </p:spPr>
        <p:txBody>
          <a:bodyPr wrap="square" lIns="0" tIns="0" rIns="0" bIns="0" rtlCol="0" anchor="ctr"/>
          <a:lstStyle/>
          <a:p>
            <a:pPr marL="0" indent="0">
              <a:buNone/>
            </a:pPr>
            <a:r>
              <a:rPr lang="en-US" sz="2400" b="1" dirty="0">
                <a:solidFill>
                  <a:srgbClr val="263B66"/>
                </a:solidFill>
              </a:rPr>
              <a:t>Why is the full correction expensive?</a:t>
            </a:r>
            <a:endParaRPr lang="en-US" sz="2400" dirty="0"/>
          </a:p>
        </p:txBody>
      </p:sp>
      <p:sp>
        <p:nvSpPr>
          <p:cNvPr id="3" name="Text 1"/>
          <p:cNvSpPr/>
          <p:nvPr/>
        </p:nvSpPr>
        <p:spPr>
          <a:xfrm>
            <a:off x="612648" y="804672"/>
            <a:ext cx="10881360" cy="256032"/>
          </a:xfrm>
          <a:prstGeom prst="rect">
            <a:avLst/>
          </a:prstGeom>
          <a:noFill/>
          <a:ln/>
        </p:spPr>
        <p:txBody>
          <a:bodyPr wrap="square" lIns="0" tIns="0" rIns="0" bIns="0" rtlCol="0" anchor="ctr"/>
          <a:lstStyle/>
          <a:p>
            <a:pPr marL="0" indent="0">
              <a:buNone/>
            </a:pPr>
            <a:r>
              <a:rPr lang="en-US" dirty="0">
                <a:latin typeface="Calibri"/>
                <a:ea typeface="Calibri"/>
                <a:cs typeface="Calibri"/>
              </a:rPr>
              <a:t>Reference approach: full-resolution deconvolution</a:t>
            </a:r>
          </a:p>
        </p:txBody>
      </p:sp>
      <p:sp>
        <p:nvSpPr>
          <p:cNvPr id="4" name="Shape 2"/>
          <p:cNvSpPr/>
          <p:nvPr/>
        </p:nvSpPr>
        <p:spPr>
          <a:xfrm>
            <a:off x="3532346" y="1055846"/>
            <a:ext cx="5120640" cy="777240"/>
          </a:xfrm>
          <a:prstGeom prst="roundRect">
            <a:avLst>
              <a:gd name="adj" fmla="val 9412"/>
            </a:avLst>
          </a:prstGeom>
          <a:solidFill>
            <a:srgbClr val="FFFFFF"/>
          </a:solidFill>
          <a:ln w="12700">
            <a:solidFill>
              <a:srgbClr val="C9D3E2"/>
            </a:solidFill>
            <a:prstDash val="solid"/>
          </a:ln>
        </p:spPr>
        <p:txBody>
          <a:bodyPr/>
          <a:lstStyle/>
          <a:p>
            <a:endParaRPr/>
          </a:p>
        </p:txBody>
      </p:sp>
      <p:sp>
        <p:nvSpPr>
          <p:cNvPr id="6" name="Shape 4"/>
          <p:cNvSpPr/>
          <p:nvPr/>
        </p:nvSpPr>
        <p:spPr>
          <a:xfrm>
            <a:off x="731520" y="2743200"/>
            <a:ext cx="1554480" cy="658368"/>
          </a:xfrm>
          <a:prstGeom prst="roundRect">
            <a:avLst>
              <a:gd name="adj" fmla="val 11111"/>
            </a:avLst>
          </a:prstGeom>
          <a:solidFill>
            <a:srgbClr val="FFFFFF"/>
          </a:solidFill>
          <a:ln w="12700">
            <a:solidFill>
              <a:srgbClr val="C9D3E2"/>
            </a:solidFill>
            <a:prstDash val="solid"/>
          </a:ln>
        </p:spPr>
      </p:sp>
      <p:sp>
        <p:nvSpPr>
          <p:cNvPr id="7" name="Text 5"/>
          <p:cNvSpPr/>
          <p:nvPr/>
        </p:nvSpPr>
        <p:spPr>
          <a:xfrm>
            <a:off x="731520" y="2743200"/>
            <a:ext cx="1554480" cy="658368"/>
          </a:xfrm>
          <a:prstGeom prst="rect">
            <a:avLst/>
          </a:prstGeom>
          <a:noFill/>
          <a:ln/>
        </p:spPr>
        <p:txBody>
          <a:bodyPr wrap="square" lIns="762" tIns="762" rIns="762" bIns="762" rtlCol="0" anchor="ctr">
            <a:normAutofit/>
          </a:bodyPr>
          <a:lstStyle/>
          <a:p>
            <a:pPr marL="0" indent="0" algn="ctr">
              <a:buNone/>
            </a:pPr>
            <a:r>
              <a:rPr lang="en-US" sz="1500" b="1" dirty="0">
                <a:solidFill>
                  <a:srgbClr val="1F2937"/>
                </a:solidFill>
              </a:rPr>
              <a:t>Padding</a:t>
            </a:r>
            <a:endParaRPr lang="en-US" sz="1500" dirty="0"/>
          </a:p>
        </p:txBody>
      </p:sp>
      <p:sp>
        <p:nvSpPr>
          <p:cNvPr id="8" name="Shape 6"/>
          <p:cNvSpPr/>
          <p:nvPr/>
        </p:nvSpPr>
        <p:spPr>
          <a:xfrm>
            <a:off x="2359152" y="2926080"/>
            <a:ext cx="438912" cy="274320"/>
          </a:xfrm>
          <a:prstGeom prst="chevron">
            <a:avLst/>
          </a:prstGeom>
          <a:solidFill>
            <a:srgbClr val="3E6DA9"/>
          </a:solidFill>
          <a:ln w="12700">
            <a:solidFill>
              <a:srgbClr val="3E6DA9"/>
            </a:solidFill>
            <a:prstDash val="solid"/>
          </a:ln>
        </p:spPr>
      </p:sp>
      <p:sp>
        <p:nvSpPr>
          <p:cNvPr id="9" name="Shape 7"/>
          <p:cNvSpPr/>
          <p:nvPr/>
        </p:nvSpPr>
        <p:spPr>
          <a:xfrm>
            <a:off x="2788920" y="2743200"/>
            <a:ext cx="1554480" cy="658368"/>
          </a:xfrm>
          <a:prstGeom prst="roundRect">
            <a:avLst>
              <a:gd name="adj" fmla="val 11111"/>
            </a:avLst>
          </a:prstGeom>
          <a:solidFill>
            <a:srgbClr val="FFFFFF"/>
          </a:solidFill>
          <a:ln w="12700">
            <a:solidFill>
              <a:srgbClr val="C9D3E2"/>
            </a:solidFill>
            <a:prstDash val="solid"/>
          </a:ln>
        </p:spPr>
      </p:sp>
      <p:sp>
        <p:nvSpPr>
          <p:cNvPr id="10" name="Text 8"/>
          <p:cNvSpPr/>
          <p:nvPr/>
        </p:nvSpPr>
        <p:spPr>
          <a:xfrm>
            <a:off x="2788920" y="2743200"/>
            <a:ext cx="1554480" cy="658368"/>
          </a:xfrm>
          <a:prstGeom prst="rect">
            <a:avLst/>
          </a:prstGeom>
          <a:noFill/>
          <a:ln/>
        </p:spPr>
        <p:txBody>
          <a:bodyPr wrap="square" lIns="762" tIns="762" rIns="762" bIns="762" rtlCol="0" anchor="ctr">
            <a:normAutofit/>
          </a:bodyPr>
          <a:lstStyle/>
          <a:p>
            <a:pPr marL="0" indent="0" algn="ctr">
              <a:buNone/>
            </a:pPr>
            <a:r>
              <a:rPr lang="en-US" sz="1500" b="1" dirty="0">
                <a:solidFill>
                  <a:srgbClr val="1F2937"/>
                </a:solidFill>
              </a:rPr>
              <a:t>FFT</a:t>
            </a:r>
            <a:endParaRPr lang="en-US" sz="1500" dirty="0"/>
          </a:p>
        </p:txBody>
      </p:sp>
      <p:sp>
        <p:nvSpPr>
          <p:cNvPr id="11" name="Shape 9"/>
          <p:cNvSpPr/>
          <p:nvPr/>
        </p:nvSpPr>
        <p:spPr>
          <a:xfrm>
            <a:off x="4416552" y="2926080"/>
            <a:ext cx="438912" cy="274320"/>
          </a:xfrm>
          <a:prstGeom prst="chevron">
            <a:avLst/>
          </a:prstGeom>
          <a:solidFill>
            <a:srgbClr val="3E6DA9"/>
          </a:solidFill>
          <a:ln w="12700">
            <a:solidFill>
              <a:srgbClr val="3E6DA9"/>
            </a:solidFill>
            <a:prstDash val="solid"/>
          </a:ln>
        </p:spPr>
      </p:sp>
      <p:sp>
        <p:nvSpPr>
          <p:cNvPr id="12" name="Shape 10"/>
          <p:cNvSpPr/>
          <p:nvPr/>
        </p:nvSpPr>
        <p:spPr>
          <a:xfrm>
            <a:off x="4846320" y="2743200"/>
            <a:ext cx="1554480" cy="658368"/>
          </a:xfrm>
          <a:prstGeom prst="roundRect">
            <a:avLst>
              <a:gd name="adj" fmla="val 11111"/>
            </a:avLst>
          </a:prstGeom>
          <a:solidFill>
            <a:srgbClr val="E9EFF7"/>
          </a:solidFill>
          <a:ln w="12700">
            <a:solidFill>
              <a:srgbClr val="3E6DA9"/>
            </a:solidFill>
            <a:prstDash val="solid"/>
          </a:ln>
        </p:spPr>
      </p:sp>
      <p:sp>
        <p:nvSpPr>
          <p:cNvPr id="13" name="Text 11"/>
          <p:cNvSpPr/>
          <p:nvPr/>
        </p:nvSpPr>
        <p:spPr>
          <a:xfrm>
            <a:off x="4846320" y="2743200"/>
            <a:ext cx="1554480" cy="658368"/>
          </a:xfrm>
          <a:prstGeom prst="rect">
            <a:avLst/>
          </a:prstGeom>
          <a:noFill/>
          <a:ln/>
        </p:spPr>
        <p:txBody>
          <a:bodyPr wrap="square" lIns="762" tIns="762" rIns="762" bIns="762" rtlCol="0" anchor="ctr">
            <a:normAutofit/>
          </a:bodyPr>
          <a:lstStyle/>
          <a:p>
            <a:pPr marL="0" indent="0" algn="ctr">
              <a:buNone/>
            </a:pPr>
            <a:r>
              <a:rPr lang="en-US" sz="1500" b="1" dirty="0">
                <a:solidFill>
                  <a:srgbClr val="1F2937"/>
                </a:solidFill>
              </a:rPr>
              <a:t>Divide by K̂</a:t>
            </a:r>
            <a:endParaRPr lang="en-US" sz="1500" dirty="0"/>
          </a:p>
        </p:txBody>
      </p:sp>
      <p:sp>
        <p:nvSpPr>
          <p:cNvPr id="14" name="Shape 12"/>
          <p:cNvSpPr/>
          <p:nvPr/>
        </p:nvSpPr>
        <p:spPr>
          <a:xfrm>
            <a:off x="6473952" y="2926080"/>
            <a:ext cx="438912" cy="274320"/>
          </a:xfrm>
          <a:prstGeom prst="chevron">
            <a:avLst/>
          </a:prstGeom>
          <a:solidFill>
            <a:srgbClr val="3E6DA9"/>
          </a:solidFill>
          <a:ln w="12700">
            <a:solidFill>
              <a:srgbClr val="3E6DA9"/>
            </a:solidFill>
            <a:prstDash val="solid"/>
          </a:ln>
        </p:spPr>
      </p:sp>
      <p:sp>
        <p:nvSpPr>
          <p:cNvPr id="15" name="Shape 13"/>
          <p:cNvSpPr/>
          <p:nvPr/>
        </p:nvSpPr>
        <p:spPr>
          <a:xfrm>
            <a:off x="7086600" y="2743200"/>
            <a:ext cx="1554480" cy="658368"/>
          </a:xfrm>
          <a:prstGeom prst="roundRect">
            <a:avLst>
              <a:gd name="adj" fmla="val 11111"/>
            </a:avLst>
          </a:prstGeom>
          <a:solidFill>
            <a:srgbClr val="FFFFFF"/>
          </a:solidFill>
          <a:ln w="12700">
            <a:solidFill>
              <a:srgbClr val="C9D3E2"/>
            </a:solidFill>
            <a:prstDash val="solid"/>
          </a:ln>
        </p:spPr>
      </p:sp>
      <p:sp>
        <p:nvSpPr>
          <p:cNvPr id="16" name="Text 14"/>
          <p:cNvSpPr/>
          <p:nvPr/>
        </p:nvSpPr>
        <p:spPr>
          <a:xfrm>
            <a:off x="7086600" y="2743200"/>
            <a:ext cx="1554480" cy="658368"/>
          </a:xfrm>
          <a:prstGeom prst="rect">
            <a:avLst/>
          </a:prstGeom>
          <a:noFill/>
          <a:ln/>
        </p:spPr>
        <p:txBody>
          <a:bodyPr wrap="square" lIns="762" tIns="762" rIns="762" bIns="762" rtlCol="0" anchor="ctr">
            <a:normAutofit/>
          </a:bodyPr>
          <a:lstStyle/>
          <a:p>
            <a:pPr marL="0" indent="0" algn="ctr">
              <a:buNone/>
            </a:pPr>
            <a:r>
              <a:rPr lang="en-US" sz="1500" b="1" dirty="0">
                <a:solidFill>
                  <a:srgbClr val="1F2937"/>
                </a:solidFill>
              </a:rPr>
              <a:t>Inverse FFT</a:t>
            </a:r>
            <a:endParaRPr lang="en-US" sz="1500" dirty="0"/>
          </a:p>
        </p:txBody>
      </p:sp>
      <p:sp>
        <p:nvSpPr>
          <p:cNvPr id="17" name="Shape 15"/>
          <p:cNvSpPr/>
          <p:nvPr/>
        </p:nvSpPr>
        <p:spPr>
          <a:xfrm>
            <a:off x="8714232" y="2926080"/>
            <a:ext cx="438912" cy="274320"/>
          </a:xfrm>
          <a:prstGeom prst="chevron">
            <a:avLst/>
          </a:prstGeom>
          <a:solidFill>
            <a:srgbClr val="3E6DA9"/>
          </a:solidFill>
          <a:ln w="12700">
            <a:solidFill>
              <a:srgbClr val="3E6DA9"/>
            </a:solidFill>
            <a:prstDash val="solid"/>
          </a:ln>
        </p:spPr>
      </p:sp>
      <p:sp>
        <p:nvSpPr>
          <p:cNvPr id="18" name="Shape 16"/>
          <p:cNvSpPr/>
          <p:nvPr/>
        </p:nvSpPr>
        <p:spPr>
          <a:xfrm>
            <a:off x="9509760" y="2743200"/>
            <a:ext cx="1554480" cy="658368"/>
          </a:xfrm>
          <a:prstGeom prst="roundRect">
            <a:avLst>
              <a:gd name="adj" fmla="val 11111"/>
            </a:avLst>
          </a:prstGeom>
          <a:solidFill>
            <a:srgbClr val="FFFFFF"/>
          </a:solidFill>
          <a:ln w="12700">
            <a:solidFill>
              <a:srgbClr val="C9D3E2"/>
            </a:solidFill>
            <a:prstDash val="solid"/>
          </a:ln>
        </p:spPr>
      </p:sp>
      <p:sp>
        <p:nvSpPr>
          <p:cNvPr id="19" name="Text 17"/>
          <p:cNvSpPr/>
          <p:nvPr/>
        </p:nvSpPr>
        <p:spPr>
          <a:xfrm>
            <a:off x="9509760" y="2743200"/>
            <a:ext cx="1554480" cy="658368"/>
          </a:xfrm>
          <a:prstGeom prst="rect">
            <a:avLst/>
          </a:prstGeom>
          <a:noFill/>
          <a:ln/>
        </p:spPr>
        <p:txBody>
          <a:bodyPr wrap="square" lIns="762" tIns="762" rIns="762" bIns="762" rtlCol="0" anchor="ctr">
            <a:normAutofit/>
          </a:bodyPr>
          <a:lstStyle/>
          <a:p>
            <a:pPr marL="0" indent="0" algn="ctr">
              <a:buNone/>
            </a:pPr>
            <a:r>
              <a:rPr lang="en-US" sz="1500" b="1" dirty="0">
                <a:solidFill>
                  <a:srgbClr val="1F2937"/>
                </a:solidFill>
              </a:rPr>
              <a:t>Crop</a:t>
            </a:r>
            <a:endParaRPr lang="en-US" sz="1500" dirty="0"/>
          </a:p>
        </p:txBody>
      </p:sp>
      <p:sp>
        <p:nvSpPr>
          <p:cNvPr id="20" name="Shape 18"/>
          <p:cNvSpPr/>
          <p:nvPr/>
        </p:nvSpPr>
        <p:spPr>
          <a:xfrm>
            <a:off x="1188720" y="4343400"/>
            <a:ext cx="9784080" cy="914400"/>
          </a:xfrm>
          <a:prstGeom prst="roundRect">
            <a:avLst>
              <a:gd name="adj" fmla="val 8000"/>
            </a:avLst>
          </a:prstGeom>
          <a:solidFill>
            <a:srgbClr val="FFF8EB"/>
          </a:solidFill>
          <a:ln w="12700">
            <a:solidFill>
              <a:srgbClr val="E7C98B"/>
            </a:solidFill>
            <a:prstDash val="solid"/>
          </a:ln>
        </p:spPr>
      </p:sp>
      <p:sp>
        <p:nvSpPr>
          <p:cNvPr id="21" name="Text 19"/>
          <p:cNvSpPr/>
          <p:nvPr/>
        </p:nvSpPr>
        <p:spPr>
          <a:xfrm>
            <a:off x="1508760" y="4526280"/>
            <a:ext cx="9144000" cy="502920"/>
          </a:xfrm>
          <a:prstGeom prst="rect">
            <a:avLst/>
          </a:prstGeom>
          <a:noFill/>
          <a:ln/>
        </p:spPr>
        <p:txBody>
          <a:bodyPr wrap="square" lIns="762" tIns="762" rIns="762" bIns="762" rtlCol="0" anchor="ctr">
            <a:normAutofit/>
          </a:bodyPr>
          <a:lstStyle/>
          <a:p>
            <a:pPr marL="0" indent="0" algn="ctr">
              <a:buNone/>
            </a:pPr>
            <a:r>
              <a:rPr lang="en-US" sz="1800" b="1" dirty="0">
                <a:solidFill>
                  <a:srgbClr val="6D4C1B"/>
                </a:solidFill>
              </a:rPr>
              <a:t>The full correction processes large projections at full spatial resolution, even though part of the correction varies only slowly.</a:t>
            </a:r>
            <a:endParaRPr lang="en-US" sz="1800" dirty="0"/>
          </a:p>
        </p:txBody>
      </p:sp>
      <p:sp>
        <p:nvSpPr>
          <p:cNvPr id="25" name="Slide Number Placeholder 0"/>
          <p:cNvSpPr>
            <a:spLocks noGrp="1"/>
          </p:cNvSpPr>
          <p:nvPr>
            <p:ph type="sldNum" sz="quarter" idx="4294967295"/>
          </p:nvPr>
        </p:nvSpPr>
        <p:spPr>
          <a:xfrm>
            <a:off x="11722608" y="6556248"/>
            <a:ext cx="22860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6B7280"/>
                </a:solidFill>
              </a:defRPr>
            </a:lvl1pPr>
          </a:lstStyle>
          <a:p>
            <a:pPr algn="l"/>
            <a:fld id="{F7021451-1387-4CA6-816F-3879F97B5CBC}" type="slidenum">
              <a:rPr lang="en-US" b="0"/>
              <a:t>4</a:t>
            </a:fld>
            <a:endParaRPr lang="en-US"/>
          </a:p>
        </p:txBody>
      </p:sp>
      <p:pic>
        <p:nvPicPr>
          <p:cNvPr id="26" name="Picture 25" descr="s4.png"/>
          <p:cNvPicPr>
            <a:picLocks noChangeAspect="1"/>
          </p:cNvPicPr>
          <p:nvPr/>
        </p:nvPicPr>
        <p:blipFill>
          <a:blip r:embed="rId3"/>
          <a:srcRect l="-8789" t="3077" r="16915" b="-3077"/>
          <a:stretch>
            <a:fillRect/>
          </a:stretch>
        </p:blipFill>
        <p:spPr>
          <a:xfrm>
            <a:off x="2037875" y="1054036"/>
            <a:ext cx="6594237" cy="767924"/>
          </a:xfrm>
          <a:prstGeom prst="rect">
            <a:avLst/>
          </a:prstGeom>
        </p:spPr>
      </p:pic>
      <p:sp>
        <p:nvSpPr>
          <p:cNvPr id="27" name="TextBox 26"/>
          <p:cNvSpPr txBox="1"/>
          <p:nvPr/>
        </p:nvSpPr>
        <p:spPr>
          <a:xfrm>
            <a:off x="3537109" y="1834991"/>
            <a:ext cx="6583680" cy="907941"/>
          </a:xfrm>
          <a:prstGeom prst="rect">
            <a:avLst/>
          </a:prstGeom>
          <a:noFill/>
        </p:spPr>
        <p:txBody>
          <a:bodyPr wrap="square" lIns="91440" tIns="45720" rIns="91440" bIns="45720" anchor="t">
            <a:spAutoFit/>
          </a:bodyPr>
          <a:lstStyle/>
          <a:p>
            <a:pPr>
              <a:spcAft>
                <a:spcPts val="200"/>
              </a:spcAft>
              <a:defRPr sz="1050">
                <a:solidFill>
                  <a:srgbClr val="5A646E"/>
                </a:solidFill>
                <a:latin typeface="Aptos"/>
              </a:defRPr>
            </a:pPr>
            <a:r>
              <a:rPr sz="1200" dirty="0"/>
              <a:t>Î: Fourier </a:t>
            </a:r>
            <a:r>
              <a:rPr sz="1200" dirty="0" err="1"/>
              <a:t>transform</a:t>
            </a:r>
            <a:r>
              <a:rPr sz="1200" dirty="0"/>
              <a:t> </a:t>
            </a:r>
            <a:endParaRPr lang="fr-FR" sz="1200" dirty="0"/>
          </a:p>
          <a:p>
            <a:pPr>
              <a:spcAft>
                <a:spcPts val="200"/>
              </a:spcAft>
              <a:defRPr sz="1050">
                <a:solidFill>
                  <a:srgbClr val="5A646E"/>
                </a:solidFill>
                <a:latin typeface="Aptos"/>
              </a:defRPr>
            </a:pPr>
            <a:r>
              <a:rPr sz="1200" dirty="0" err="1"/>
              <a:t>I_corr</a:t>
            </a:r>
            <a:r>
              <a:rPr sz="1200" dirty="0"/>
              <a:t>: corrected projection </a:t>
            </a:r>
            <a:r>
              <a:rPr lang="fr-FR" sz="1200" dirty="0"/>
              <a:t> </a:t>
            </a:r>
            <a:r>
              <a:rPr sz="1200" dirty="0"/>
              <a:t> </a:t>
            </a:r>
            <a:endParaRPr lang="fr-FR" sz="1200" dirty="0"/>
          </a:p>
          <a:p>
            <a:pPr>
              <a:spcAft>
                <a:spcPts val="200"/>
              </a:spcAft>
              <a:defRPr sz="1050">
                <a:solidFill>
                  <a:srgbClr val="5A646E"/>
                </a:solidFill>
                <a:latin typeface="Aptos"/>
              </a:defRPr>
            </a:pPr>
            <a:r>
              <a:rPr sz="1200" dirty="0" err="1"/>
              <a:t>I_meas</a:t>
            </a:r>
            <a:r>
              <a:rPr sz="1200" dirty="0"/>
              <a:t>: measured projection </a:t>
            </a:r>
            <a:r>
              <a:rPr lang="fr-FR" sz="1200" dirty="0"/>
              <a:t> </a:t>
            </a:r>
          </a:p>
          <a:p>
            <a:pPr>
              <a:spcAft>
                <a:spcPts val="200"/>
              </a:spcAft>
              <a:defRPr sz="1050">
                <a:solidFill>
                  <a:srgbClr val="5A646E"/>
                </a:solidFill>
                <a:latin typeface="Aptos"/>
              </a:defRPr>
            </a:pPr>
            <a:r>
              <a:rPr sz="1200"/>
              <a:t>K̂: diffusion kernel in Fourier space</a:t>
            </a:r>
            <a:endParaRPr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347472"/>
            <a:ext cx="10972800" cy="411480"/>
          </a:xfrm>
          <a:prstGeom prst="rect">
            <a:avLst/>
          </a:prstGeom>
          <a:noFill/>
          <a:ln/>
        </p:spPr>
        <p:txBody>
          <a:bodyPr wrap="square" lIns="0" tIns="0" rIns="0" bIns="0" rtlCol="0" anchor="ctr"/>
          <a:lstStyle/>
          <a:p>
            <a:pPr marL="0" indent="0">
              <a:buNone/>
            </a:pPr>
            <a:r>
              <a:rPr lang="en-US" sz="2400" b="1" dirty="0">
                <a:solidFill>
                  <a:srgbClr val="263B66"/>
                </a:solidFill>
              </a:rPr>
              <a:t>Separate low and high spatial frequencies</a:t>
            </a:r>
            <a:endParaRPr lang="en-US" sz="2400" dirty="0"/>
          </a:p>
        </p:txBody>
      </p:sp>
      <p:sp>
        <p:nvSpPr>
          <p:cNvPr id="3" name="Text 1"/>
          <p:cNvSpPr/>
          <p:nvPr/>
        </p:nvSpPr>
        <p:spPr>
          <a:xfrm>
            <a:off x="612648" y="804672"/>
            <a:ext cx="10881360" cy="256032"/>
          </a:xfrm>
          <a:prstGeom prst="rect">
            <a:avLst/>
          </a:prstGeom>
          <a:noFill/>
          <a:ln/>
        </p:spPr>
        <p:txBody>
          <a:bodyPr wrap="square" lIns="0" tIns="0" rIns="0" bIns="0" rtlCol="0" anchor="ctr"/>
          <a:lstStyle/>
          <a:p>
            <a:pPr marL="0" indent="0">
              <a:buNone/>
            </a:pPr>
            <a:r>
              <a:rPr lang="en-US" dirty="0"/>
              <a:t>The correction is decomposed into a smooth global part and a detailed local part</a:t>
            </a:r>
            <a:endParaRPr lang="en-US"/>
          </a:p>
        </p:txBody>
      </p:sp>
      <p:sp>
        <p:nvSpPr>
          <p:cNvPr id="4" name="Shape 2"/>
          <p:cNvSpPr/>
          <p:nvPr/>
        </p:nvSpPr>
        <p:spPr>
          <a:xfrm>
            <a:off x="640080" y="1143000"/>
            <a:ext cx="2971800" cy="594360"/>
          </a:xfrm>
          <a:prstGeom prst="roundRect">
            <a:avLst>
              <a:gd name="adj" fmla="val 12308"/>
            </a:avLst>
          </a:prstGeom>
          <a:solidFill>
            <a:srgbClr val="FFFFFF"/>
          </a:solidFill>
          <a:ln w="12700">
            <a:solidFill>
              <a:srgbClr val="C9D3E2"/>
            </a:solidFill>
            <a:prstDash val="solid"/>
          </a:ln>
        </p:spPr>
        <p:txBody>
          <a:bodyPr/>
          <a:lstStyle/>
          <a:p>
            <a:endParaRPr/>
          </a:p>
        </p:txBody>
      </p:sp>
      <p:sp>
        <p:nvSpPr>
          <p:cNvPr id="6" name="Shape 4"/>
          <p:cNvSpPr/>
          <p:nvPr/>
        </p:nvSpPr>
        <p:spPr>
          <a:xfrm>
            <a:off x="640080" y="1874520"/>
            <a:ext cx="2971800" cy="594360"/>
          </a:xfrm>
          <a:prstGeom prst="roundRect">
            <a:avLst>
              <a:gd name="adj" fmla="val 12308"/>
            </a:avLst>
          </a:prstGeom>
          <a:solidFill>
            <a:srgbClr val="FFFFFF"/>
          </a:solidFill>
          <a:ln w="12700">
            <a:solidFill>
              <a:srgbClr val="C9D3E2"/>
            </a:solidFill>
            <a:prstDash val="solid"/>
          </a:ln>
        </p:spPr>
        <p:txBody>
          <a:bodyPr/>
          <a:lstStyle/>
          <a:p>
            <a:endParaRPr/>
          </a:p>
        </p:txBody>
      </p:sp>
      <p:sp>
        <p:nvSpPr>
          <p:cNvPr id="8" name="Shape 6"/>
          <p:cNvSpPr/>
          <p:nvPr/>
        </p:nvSpPr>
        <p:spPr>
          <a:xfrm>
            <a:off x="640080" y="2606040"/>
            <a:ext cx="2971800" cy="594360"/>
          </a:xfrm>
          <a:prstGeom prst="roundRect">
            <a:avLst>
              <a:gd name="adj" fmla="val 12308"/>
            </a:avLst>
          </a:prstGeom>
          <a:solidFill>
            <a:srgbClr val="FFFFFF"/>
          </a:solidFill>
          <a:ln w="12700">
            <a:solidFill>
              <a:srgbClr val="C9D3E2"/>
            </a:solidFill>
            <a:prstDash val="solid"/>
          </a:ln>
        </p:spPr>
        <p:txBody>
          <a:bodyPr/>
          <a:lstStyle/>
          <a:p>
            <a:endParaRPr/>
          </a:p>
        </p:txBody>
      </p:sp>
      <p:sp>
        <p:nvSpPr>
          <p:cNvPr id="10" name="Shape 8"/>
          <p:cNvSpPr/>
          <p:nvPr/>
        </p:nvSpPr>
        <p:spPr>
          <a:xfrm>
            <a:off x="640080" y="3337560"/>
            <a:ext cx="2971800" cy="594360"/>
          </a:xfrm>
          <a:prstGeom prst="roundRect">
            <a:avLst>
              <a:gd name="adj" fmla="val 12308"/>
            </a:avLst>
          </a:prstGeom>
          <a:solidFill>
            <a:srgbClr val="FFFFFF"/>
          </a:solidFill>
          <a:ln w="12700">
            <a:solidFill>
              <a:srgbClr val="C9D3E2"/>
            </a:solidFill>
            <a:prstDash val="solid"/>
          </a:ln>
        </p:spPr>
        <p:txBody>
          <a:bodyPr/>
          <a:lstStyle/>
          <a:p>
            <a:endParaRPr/>
          </a:p>
        </p:txBody>
      </p:sp>
      <p:sp>
        <p:nvSpPr>
          <p:cNvPr id="12" name="Shape 10"/>
          <p:cNvSpPr/>
          <p:nvPr/>
        </p:nvSpPr>
        <p:spPr>
          <a:xfrm>
            <a:off x="614362" y="5109210"/>
            <a:ext cx="2880360" cy="960120"/>
          </a:xfrm>
          <a:prstGeom prst="roundRect">
            <a:avLst>
              <a:gd name="adj" fmla="val 7619"/>
            </a:avLst>
          </a:prstGeom>
          <a:solidFill>
            <a:srgbClr val="E9EFF7"/>
          </a:solidFill>
          <a:ln w="12700">
            <a:solidFill>
              <a:srgbClr val="C9D3E2"/>
            </a:solidFill>
            <a:prstDash val="solid"/>
          </a:ln>
        </p:spPr>
        <p:txBody>
          <a:bodyPr/>
          <a:lstStyle/>
          <a:p>
            <a:endParaRPr/>
          </a:p>
        </p:txBody>
      </p:sp>
      <p:sp>
        <p:nvSpPr>
          <p:cNvPr id="13" name="Text 11"/>
          <p:cNvSpPr/>
          <p:nvPr/>
        </p:nvSpPr>
        <p:spPr>
          <a:xfrm>
            <a:off x="680085" y="5236369"/>
            <a:ext cx="2743200" cy="713232"/>
          </a:xfrm>
          <a:prstGeom prst="rect">
            <a:avLst/>
          </a:prstGeom>
          <a:noFill/>
          <a:ln/>
        </p:spPr>
        <p:txBody>
          <a:bodyPr wrap="square" lIns="762" tIns="762" rIns="762" bIns="762" rtlCol="0" anchor="ctr">
            <a:normAutofit/>
          </a:bodyPr>
          <a:lstStyle/>
          <a:p>
            <a:pPr marL="0" indent="0" algn="ctr">
              <a:buNone/>
              <a:defRPr sz="1200"/>
            </a:pPr>
            <a:r>
              <a:rPr lang="en-US" sz="1600" b="1" dirty="0">
                <a:solidFill>
                  <a:srgbClr val="263B66"/>
                </a:solidFill>
              </a:rPr>
              <a:t>σ = 8 pixels</a:t>
            </a:r>
            <a:endParaRPr lang="en-US" sz="1600" dirty="0"/>
          </a:p>
          <a:p>
            <a:pPr marL="0" indent="0" algn="ctr">
              <a:buNone/>
              <a:defRPr sz="1200"/>
            </a:pPr>
            <a:r>
              <a:rPr lang="en-US" sz="1600" b="1" dirty="0">
                <a:solidFill>
                  <a:srgbClr val="263B66"/>
                </a:solidFill>
              </a:rPr>
              <a:t>LF: smooth + extended</a:t>
            </a:r>
            <a:endParaRPr lang="en-US" sz="1600" dirty="0"/>
          </a:p>
          <a:p>
            <a:pPr marL="0" indent="0" algn="ctr">
              <a:buNone/>
              <a:defRPr sz="1200"/>
            </a:pPr>
            <a:r>
              <a:rPr lang="en-US" sz="1600" b="1" dirty="0">
                <a:solidFill>
                  <a:srgbClr val="263B66"/>
                </a:solidFill>
              </a:rPr>
              <a:t>HF: detailed + localized</a:t>
            </a:r>
            <a:endParaRPr lang="en-US" sz="1600" dirty="0"/>
          </a:p>
        </p:txBody>
      </p:sp>
      <p:sp>
        <p:nvSpPr>
          <p:cNvPr id="14" name="Shape 12"/>
          <p:cNvSpPr/>
          <p:nvPr/>
        </p:nvSpPr>
        <p:spPr>
          <a:xfrm>
            <a:off x="4025265" y="1309687"/>
            <a:ext cx="7543800" cy="4526280"/>
          </a:xfrm>
          <a:prstGeom prst="roundRect">
            <a:avLst>
              <a:gd name="adj" fmla="val 1616"/>
            </a:avLst>
          </a:prstGeom>
          <a:solidFill>
            <a:srgbClr val="FFFFFF"/>
          </a:solidFill>
          <a:ln w="12700">
            <a:solidFill>
              <a:srgbClr val="98A2B3"/>
            </a:solidFill>
            <a:prstDash val="solid"/>
          </a:ln>
        </p:spPr>
      </p:sp>
      <p:sp>
        <p:nvSpPr>
          <p:cNvPr id="15" name="Text 13"/>
          <p:cNvSpPr/>
          <p:nvPr/>
        </p:nvSpPr>
        <p:spPr>
          <a:xfrm>
            <a:off x="4114800" y="1307592"/>
            <a:ext cx="7269480" cy="3931920"/>
          </a:xfrm>
          <a:prstGeom prst="rect">
            <a:avLst/>
          </a:prstGeom>
          <a:noFill/>
          <a:ln/>
        </p:spPr>
        <p:txBody>
          <a:bodyPr wrap="square" lIns="635" tIns="635" rIns="635" bIns="635" rtlCol="0" anchor="ctr">
            <a:normAutofit/>
          </a:bodyPr>
          <a:lstStyle/>
          <a:p>
            <a:pPr marL="0" indent="0" algn="ctr">
              <a:buNone/>
            </a:pPr>
            <a:r>
              <a:rPr lang="en-US" sz="1500" b="1" dirty="0">
                <a:solidFill>
                  <a:srgbClr val="667085"/>
                </a:solidFill>
              </a:rPr>
              <a:t>ADD FIGURE</a:t>
            </a:r>
            <a:endParaRPr lang="en-US" sz="1500" dirty="0"/>
          </a:p>
          <a:p>
            <a:pPr marL="0" indent="0" algn="ctr">
              <a:buNone/>
            </a:pPr>
            <a:r>
              <a:rPr lang="en-US" sz="1500" b="1" dirty="0">
                <a:solidFill>
                  <a:srgbClr val="667085"/>
                </a:solidFill>
              </a:rPr>
              <a:t>kernel_correction_low_high_sigma8_ZOOM.png</a:t>
            </a:r>
            <a:endParaRPr lang="en-US" sz="1500" dirty="0"/>
          </a:p>
        </p:txBody>
      </p:sp>
      <p:sp>
        <p:nvSpPr>
          <p:cNvPr id="16" name="Text 14"/>
          <p:cNvSpPr/>
          <p:nvPr/>
        </p:nvSpPr>
        <p:spPr>
          <a:xfrm>
            <a:off x="4032504" y="5285232"/>
            <a:ext cx="7434072" cy="310896"/>
          </a:xfrm>
          <a:prstGeom prst="rect">
            <a:avLst/>
          </a:prstGeom>
          <a:noFill/>
          <a:ln/>
        </p:spPr>
        <p:txBody>
          <a:bodyPr wrap="square" lIns="254" tIns="254" rIns="254" bIns="254" rtlCol="0" anchor="ctr">
            <a:normAutofit/>
          </a:bodyPr>
          <a:lstStyle/>
          <a:p>
            <a:pPr marL="0" indent="0" algn="ctr">
              <a:buNone/>
            </a:pPr>
            <a:r>
              <a:rPr lang="en-US" sz="850" i="1" dirty="0">
                <a:solidFill>
                  <a:srgbClr val="667085"/>
                </a:solidFill>
              </a:rPr>
              <a:t>Display ranges are adapted per panel so the weaker HF component remains visible; colors are not a common amplitude scale.</a:t>
            </a:r>
            <a:endParaRPr lang="en-US" sz="850" dirty="0"/>
          </a:p>
        </p:txBody>
      </p:sp>
      <p:sp>
        <p:nvSpPr>
          <p:cNvPr id="25" name="Slide Number Placeholder 0"/>
          <p:cNvSpPr>
            <a:spLocks noGrp="1"/>
          </p:cNvSpPr>
          <p:nvPr>
            <p:ph type="sldNum" sz="quarter" idx="4294967295"/>
          </p:nvPr>
        </p:nvSpPr>
        <p:spPr>
          <a:xfrm>
            <a:off x="11722608" y="6556248"/>
            <a:ext cx="22860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6B7280"/>
                </a:solidFill>
              </a:defRPr>
            </a:lvl1pPr>
          </a:lstStyle>
          <a:p>
            <a:pPr algn="l"/>
            <a:fld id="{F7021451-1387-4CA6-816F-3879F97B5CBC}" type="slidenum">
              <a:rPr lang="en-US" b="0"/>
              <a:t>5</a:t>
            </a:fld>
            <a:endParaRPr lang="en-US"/>
          </a:p>
        </p:txBody>
      </p:sp>
      <p:pic>
        <p:nvPicPr>
          <p:cNvPr id="26" name="Picture 25" descr="s5a.png"/>
          <p:cNvPicPr>
            <a:picLocks noChangeAspect="1"/>
          </p:cNvPicPr>
          <p:nvPr/>
        </p:nvPicPr>
        <p:blipFill>
          <a:blip r:embed="rId3"/>
          <a:srcRect l="18288" t="-16667" r="11673" b="-4762"/>
          <a:stretch>
            <a:fillRect/>
          </a:stretch>
        </p:blipFill>
        <p:spPr>
          <a:xfrm>
            <a:off x="551212" y="929268"/>
            <a:ext cx="3562314" cy="991688"/>
          </a:xfrm>
          <a:prstGeom prst="rect">
            <a:avLst/>
          </a:prstGeom>
        </p:spPr>
      </p:pic>
      <p:pic>
        <p:nvPicPr>
          <p:cNvPr id="27" name="Picture 26" descr="s5b.png"/>
          <p:cNvPicPr>
            <a:picLocks noChangeAspect="1"/>
          </p:cNvPicPr>
          <p:nvPr/>
        </p:nvPicPr>
        <p:blipFill>
          <a:blip r:embed="rId4"/>
          <a:srcRect l="20087" t="-1322" r="-300" b="2174"/>
          <a:stretch>
            <a:fillRect/>
          </a:stretch>
        </p:blipFill>
        <p:spPr>
          <a:xfrm>
            <a:off x="594922" y="1711547"/>
            <a:ext cx="4047067" cy="998392"/>
          </a:xfrm>
          <a:prstGeom prst="rect">
            <a:avLst/>
          </a:prstGeom>
        </p:spPr>
      </p:pic>
      <p:pic>
        <p:nvPicPr>
          <p:cNvPr id="28" name="Picture 27" descr="s5c.png"/>
          <p:cNvPicPr>
            <a:picLocks noChangeAspect="1"/>
          </p:cNvPicPr>
          <p:nvPr/>
        </p:nvPicPr>
        <p:blipFill>
          <a:blip r:embed="rId5"/>
          <a:stretch>
            <a:fillRect/>
          </a:stretch>
        </p:blipFill>
        <p:spPr>
          <a:xfrm>
            <a:off x="-889445" y="2474404"/>
            <a:ext cx="6015991" cy="955358"/>
          </a:xfrm>
          <a:prstGeom prst="rect">
            <a:avLst/>
          </a:prstGeom>
        </p:spPr>
      </p:pic>
      <p:pic>
        <p:nvPicPr>
          <p:cNvPr id="29" name="Picture 28" descr="s5d.png"/>
          <p:cNvPicPr>
            <a:picLocks noChangeAspect="1"/>
          </p:cNvPicPr>
          <p:nvPr/>
        </p:nvPicPr>
        <p:blipFill>
          <a:blip r:embed="rId6"/>
          <a:stretch>
            <a:fillRect/>
          </a:stretch>
        </p:blipFill>
        <p:spPr>
          <a:xfrm>
            <a:off x="-1056131" y="3153822"/>
            <a:ext cx="6349364" cy="955357"/>
          </a:xfrm>
          <a:prstGeom prst="rect">
            <a:avLst/>
          </a:prstGeom>
        </p:spPr>
      </p:pic>
      <p:sp>
        <p:nvSpPr>
          <p:cNvPr id="30" name="TextBox 29"/>
          <p:cNvSpPr txBox="1"/>
          <p:nvPr/>
        </p:nvSpPr>
        <p:spPr>
          <a:xfrm>
            <a:off x="617982" y="3937826"/>
            <a:ext cx="2864644" cy="1236236"/>
          </a:xfrm>
          <a:prstGeom prst="rect">
            <a:avLst/>
          </a:prstGeom>
          <a:noFill/>
        </p:spPr>
        <p:txBody>
          <a:bodyPr wrap="square" lIns="91440" tIns="45720" rIns="91440" bIns="45720" anchor="t">
            <a:spAutoFit/>
          </a:bodyPr>
          <a:lstStyle/>
          <a:p>
            <a:pPr>
              <a:spcAft>
                <a:spcPts val="200"/>
              </a:spcAft>
              <a:defRPr sz="1019">
                <a:solidFill>
                  <a:srgbClr val="5A646E"/>
                </a:solidFill>
                <a:latin typeface="Aptos"/>
              </a:defRPr>
            </a:pPr>
            <a:r>
              <a:rPr sz="1100" dirty="0"/>
              <a:t>Q: diffusion correction </a:t>
            </a:r>
            <a:endParaRPr lang="fr-FR" sz="1100"/>
          </a:p>
          <a:p>
            <a:pPr>
              <a:spcAft>
                <a:spcPts val="200"/>
              </a:spcAft>
              <a:defRPr sz="1019">
                <a:solidFill>
                  <a:srgbClr val="5A646E"/>
                </a:solidFill>
                <a:latin typeface="Aptos"/>
              </a:defRPr>
            </a:pPr>
            <a:r>
              <a:rPr sz="1100" dirty="0"/>
              <a:t>Q_LF: </a:t>
            </a:r>
            <a:r>
              <a:rPr sz="1100" dirty="0" err="1"/>
              <a:t>low-frequency</a:t>
            </a:r>
            <a:r>
              <a:rPr sz="1100" dirty="0"/>
              <a:t> part </a:t>
            </a:r>
            <a:endParaRPr lang="fr-FR" sz="1100"/>
          </a:p>
          <a:p>
            <a:pPr>
              <a:spcAft>
                <a:spcPts val="200"/>
              </a:spcAft>
              <a:defRPr sz="1019">
                <a:solidFill>
                  <a:srgbClr val="5A646E"/>
                </a:solidFill>
                <a:latin typeface="Aptos"/>
              </a:defRPr>
            </a:pPr>
            <a:r>
              <a:rPr sz="1100"/>
              <a:t>Q_HF: high-frequency </a:t>
            </a:r>
            <a:r>
              <a:rPr sz="1100" dirty="0"/>
              <a:t>part</a:t>
            </a:r>
          </a:p>
          <a:p>
            <a:pPr>
              <a:spcAft>
                <a:spcPts val="200"/>
              </a:spcAft>
              <a:defRPr sz="1019">
                <a:solidFill>
                  <a:srgbClr val="5A646E"/>
                </a:solidFill>
                <a:latin typeface="Aptos"/>
              </a:defRPr>
            </a:pPr>
            <a:r>
              <a:rPr sz="1100" dirty="0" err="1"/>
              <a:t>Gσ</a:t>
            </a:r>
            <a:r>
              <a:rPr sz="1100" dirty="0"/>
              <a:t>: </a:t>
            </a:r>
            <a:r>
              <a:rPr sz="1100" dirty="0" err="1"/>
              <a:t>Gaussian</a:t>
            </a:r>
            <a:r>
              <a:rPr sz="1100" dirty="0"/>
              <a:t> </a:t>
            </a:r>
            <a:r>
              <a:rPr sz="1100" dirty="0" err="1"/>
              <a:t>filter</a:t>
            </a:r>
            <a:endParaRPr lang="fr-FR" sz="1100"/>
          </a:p>
          <a:p>
            <a:pPr>
              <a:spcAft>
                <a:spcPts val="200"/>
              </a:spcAft>
              <a:defRPr sz="1019">
                <a:solidFill>
                  <a:srgbClr val="5A646E"/>
                </a:solidFill>
                <a:latin typeface="Aptos"/>
              </a:defRPr>
            </a:pPr>
            <a:r>
              <a:rPr sz="1100" dirty="0"/>
              <a:t>σ: </a:t>
            </a:r>
            <a:r>
              <a:rPr sz="1100" dirty="0" err="1"/>
              <a:t>Gaussian</a:t>
            </a:r>
            <a:r>
              <a:rPr sz="1100" dirty="0"/>
              <a:t> </a:t>
            </a:r>
            <a:r>
              <a:rPr sz="1100" dirty="0" err="1"/>
              <a:t>width</a:t>
            </a:r>
            <a:r>
              <a:rPr sz="1100" dirty="0"/>
              <a:t> </a:t>
            </a:r>
            <a:endParaRPr lang="fr-FR" sz="1100"/>
          </a:p>
          <a:p>
            <a:pPr>
              <a:spcAft>
                <a:spcPts val="200"/>
              </a:spcAft>
              <a:defRPr sz="1019">
                <a:solidFill>
                  <a:srgbClr val="5A646E"/>
                </a:solidFill>
                <a:latin typeface="Aptos"/>
              </a:defRPr>
            </a:pPr>
            <a:r>
              <a:rPr sz="1100"/>
              <a:t>∗: convolution</a:t>
            </a:r>
            <a:endParaRPr sz="1100" dirty="0"/>
          </a:p>
        </p:txBody>
      </p:sp>
      <p:sp>
        <p:nvSpPr>
          <p:cNvPr id="17" name="ZoneTexte 16">
            <a:extLst>
              <a:ext uri="{FF2B5EF4-FFF2-40B4-BE49-F238E27FC236}">
                <a16:creationId xmlns:a16="http://schemas.microsoft.com/office/drawing/2014/main" id="{55CB0E58-5CBC-4A12-37A8-E8F44F036755}"/>
              </a:ext>
            </a:extLst>
          </p:cNvPr>
          <p:cNvSpPr txBox="1"/>
          <p:nvPr/>
        </p:nvSpPr>
        <p:spPr>
          <a:xfrm>
            <a:off x="3902528" y="5940879"/>
            <a:ext cx="8044542" cy="7848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500" dirty="0">
                <a:latin typeface="Calibri"/>
                <a:ea typeface="Calibri"/>
                <a:cs typeface="Calibri"/>
              </a:rPr>
              <a:t>Correction kernel </a:t>
            </a:r>
            <a:r>
              <a:rPr lang="fr-FR" sz="1500" dirty="0" err="1">
                <a:latin typeface="Calibri"/>
                <a:ea typeface="Calibri"/>
                <a:cs typeface="Calibri"/>
              </a:rPr>
              <a:t>decomposition</a:t>
            </a:r>
            <a:r>
              <a:rPr lang="fr-FR" sz="1500" dirty="0">
                <a:latin typeface="Calibri"/>
                <a:ea typeface="Calibri"/>
                <a:cs typeface="Calibri"/>
              </a:rPr>
              <a:t> </a:t>
            </a:r>
            <a:r>
              <a:rPr lang="fr-FR" sz="1500" dirty="0" err="1">
                <a:latin typeface="Calibri"/>
                <a:ea typeface="Calibri"/>
                <a:cs typeface="Calibri"/>
              </a:rPr>
              <a:t>into</a:t>
            </a:r>
            <a:r>
              <a:rPr lang="fr-FR" sz="1500" dirty="0">
                <a:latin typeface="Calibri"/>
                <a:ea typeface="Calibri"/>
                <a:cs typeface="Calibri"/>
              </a:rPr>
              <a:t> </a:t>
            </a:r>
            <a:r>
              <a:rPr lang="fr-FR" sz="1500" dirty="0" err="1">
                <a:latin typeface="Calibri"/>
                <a:ea typeface="Calibri"/>
                <a:cs typeface="Calibri"/>
              </a:rPr>
              <a:t>low</a:t>
            </a:r>
            <a:r>
              <a:rPr lang="fr-FR" sz="1500" dirty="0">
                <a:latin typeface="Calibri"/>
                <a:ea typeface="Calibri"/>
                <a:cs typeface="Calibri"/>
              </a:rPr>
              <a:t>- and high-</a:t>
            </a:r>
            <a:r>
              <a:rPr lang="fr-FR" sz="1500" dirty="0" err="1">
                <a:latin typeface="Calibri"/>
                <a:ea typeface="Calibri"/>
                <a:cs typeface="Calibri"/>
              </a:rPr>
              <a:t>frequency</a:t>
            </a:r>
            <a:r>
              <a:rPr lang="fr-FR" sz="1500" dirty="0">
                <a:latin typeface="Calibri"/>
                <a:ea typeface="Calibri"/>
                <a:cs typeface="Calibri"/>
              </a:rPr>
              <a:t> components </a:t>
            </a:r>
            <a:r>
              <a:rPr lang="fr-FR" sz="1500" dirty="0" err="1">
                <a:latin typeface="Calibri"/>
                <a:ea typeface="Calibri"/>
                <a:cs typeface="Calibri"/>
              </a:rPr>
              <a:t>using</a:t>
            </a:r>
            <a:r>
              <a:rPr lang="fr-FR" sz="1500" dirty="0">
                <a:latin typeface="Calibri"/>
                <a:ea typeface="Calibri"/>
                <a:cs typeface="Calibri"/>
              </a:rPr>
              <a:t> a </a:t>
            </a:r>
            <a:r>
              <a:rPr lang="fr-FR" sz="1500" dirty="0" err="1">
                <a:latin typeface="Calibri"/>
                <a:ea typeface="Calibri"/>
                <a:cs typeface="Calibri"/>
              </a:rPr>
              <a:t>Gaussian</a:t>
            </a:r>
            <a:r>
              <a:rPr lang="fr-FR" sz="1500" dirty="0">
                <a:latin typeface="Calibri"/>
                <a:ea typeface="Calibri"/>
                <a:cs typeface="Calibri"/>
              </a:rPr>
              <a:t> </a:t>
            </a:r>
            <a:r>
              <a:rPr lang="fr-FR" sz="1500" dirty="0" err="1">
                <a:latin typeface="Calibri"/>
                <a:ea typeface="Calibri"/>
                <a:cs typeface="Calibri"/>
              </a:rPr>
              <a:t>filter</a:t>
            </a:r>
            <a:r>
              <a:rPr lang="fr-FR" sz="1500" dirty="0">
                <a:latin typeface="Calibri"/>
                <a:ea typeface="Calibri"/>
                <a:cs typeface="Calibri"/>
              </a:rPr>
              <a:t> (σ=8). The </a:t>
            </a:r>
            <a:r>
              <a:rPr lang="fr-FR" sz="1500" dirty="0" err="1">
                <a:latin typeface="Calibri"/>
                <a:ea typeface="Calibri"/>
                <a:cs typeface="Calibri"/>
              </a:rPr>
              <a:t>low-frequency</a:t>
            </a:r>
            <a:r>
              <a:rPr lang="fr-FR" sz="1500" dirty="0">
                <a:latin typeface="Calibri"/>
                <a:ea typeface="Calibri"/>
                <a:cs typeface="Calibri"/>
              </a:rPr>
              <a:t> component captures the </a:t>
            </a:r>
            <a:r>
              <a:rPr lang="fr-FR" sz="1500" dirty="0" err="1">
                <a:latin typeface="Calibri"/>
                <a:ea typeface="Calibri"/>
                <a:cs typeface="Calibri"/>
              </a:rPr>
              <a:t>spatially</a:t>
            </a:r>
            <a:r>
              <a:rPr lang="fr-FR" sz="1500" dirty="0">
                <a:latin typeface="Calibri"/>
                <a:ea typeface="Calibri"/>
                <a:cs typeface="Calibri"/>
              </a:rPr>
              <a:t> </a:t>
            </a:r>
            <a:r>
              <a:rPr lang="fr-FR" sz="1500" dirty="0" err="1">
                <a:latin typeface="Calibri"/>
                <a:ea typeface="Calibri"/>
                <a:cs typeface="Calibri"/>
              </a:rPr>
              <a:t>extended</a:t>
            </a:r>
            <a:r>
              <a:rPr lang="fr-FR" sz="1500" dirty="0">
                <a:latin typeface="Calibri"/>
                <a:ea typeface="Calibri"/>
                <a:cs typeface="Calibri"/>
              </a:rPr>
              <a:t> contribution, </a:t>
            </a:r>
            <a:r>
              <a:rPr lang="fr-FR" sz="1500" dirty="0" err="1">
                <a:latin typeface="Calibri"/>
                <a:ea typeface="Calibri"/>
                <a:cs typeface="Calibri"/>
              </a:rPr>
              <a:t>while</a:t>
            </a:r>
            <a:r>
              <a:rPr lang="fr-FR" sz="1500" dirty="0">
                <a:latin typeface="Calibri"/>
                <a:ea typeface="Calibri"/>
                <a:cs typeface="Calibri"/>
              </a:rPr>
              <a:t> the high-</a:t>
            </a:r>
            <a:r>
              <a:rPr lang="fr-FR" sz="1500" dirty="0" err="1">
                <a:latin typeface="Calibri"/>
                <a:ea typeface="Calibri"/>
                <a:cs typeface="Calibri"/>
              </a:rPr>
              <a:t>frequency</a:t>
            </a:r>
            <a:r>
              <a:rPr lang="fr-FR" sz="1500" dirty="0">
                <a:latin typeface="Calibri"/>
                <a:ea typeface="Calibri"/>
                <a:cs typeface="Calibri"/>
              </a:rPr>
              <a:t> component </a:t>
            </a:r>
            <a:r>
              <a:rPr lang="fr-FR" sz="1500" dirty="0" err="1">
                <a:latin typeface="Calibri"/>
                <a:ea typeface="Calibri"/>
                <a:cs typeface="Calibri"/>
              </a:rPr>
              <a:t>retains</a:t>
            </a:r>
            <a:r>
              <a:rPr lang="fr-FR" sz="1500" dirty="0">
                <a:latin typeface="Calibri"/>
                <a:ea typeface="Calibri"/>
                <a:cs typeface="Calibri"/>
              </a:rPr>
              <a:t> the </a:t>
            </a:r>
            <a:r>
              <a:rPr lang="fr-FR" sz="1500" dirty="0" err="1">
                <a:latin typeface="Calibri"/>
                <a:ea typeface="Calibri"/>
                <a:cs typeface="Calibri"/>
              </a:rPr>
              <a:t>localized</a:t>
            </a:r>
            <a:r>
              <a:rPr lang="fr-FR" sz="1500" dirty="0">
                <a:latin typeface="Calibri"/>
                <a:ea typeface="Calibri"/>
                <a:cs typeface="Calibri"/>
              </a:rPr>
              <a:t> structures.</a:t>
            </a:r>
          </a:p>
        </p:txBody>
      </p:sp>
      <p:pic>
        <p:nvPicPr>
          <p:cNvPr id="7" name="Image 6">
            <a:extLst>
              <a:ext uri="{FF2B5EF4-FFF2-40B4-BE49-F238E27FC236}">
                <a16:creationId xmlns:a16="http://schemas.microsoft.com/office/drawing/2014/main" id="{B47BFB1C-8B36-E81D-735F-3006F461618C}"/>
              </a:ext>
            </a:extLst>
          </p:cNvPr>
          <p:cNvPicPr>
            <a:picLocks noChangeAspect="1"/>
          </p:cNvPicPr>
          <p:nvPr/>
        </p:nvPicPr>
        <p:blipFill>
          <a:blip r:embed="rId7"/>
          <a:stretch>
            <a:fillRect/>
          </a:stretch>
        </p:blipFill>
        <p:spPr>
          <a:xfrm>
            <a:off x="3790837" y="1143001"/>
            <a:ext cx="8159068" cy="476794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347472"/>
            <a:ext cx="10972800" cy="411480"/>
          </a:xfrm>
          <a:prstGeom prst="rect">
            <a:avLst/>
          </a:prstGeom>
          <a:noFill/>
          <a:ln/>
        </p:spPr>
        <p:txBody>
          <a:bodyPr wrap="square" lIns="0" tIns="0" rIns="0" bIns="0" rtlCol="0" anchor="ctr"/>
          <a:lstStyle/>
          <a:p>
            <a:pPr marL="0" indent="0">
              <a:buNone/>
            </a:pPr>
            <a:r>
              <a:rPr lang="en-US" sz="2400" b="1" dirty="0">
                <a:solidFill>
                  <a:srgbClr val="263B66"/>
                </a:solidFill>
              </a:rPr>
              <a:t>Why can the low-frequency part be cheaper?</a:t>
            </a:r>
            <a:endParaRPr lang="en-US" sz="2400" dirty="0"/>
          </a:p>
        </p:txBody>
      </p:sp>
      <p:sp>
        <p:nvSpPr>
          <p:cNvPr id="3" name="Text 1"/>
          <p:cNvSpPr/>
          <p:nvPr/>
        </p:nvSpPr>
        <p:spPr>
          <a:xfrm>
            <a:off x="612648" y="804672"/>
            <a:ext cx="10881360" cy="256032"/>
          </a:xfrm>
          <a:prstGeom prst="rect">
            <a:avLst/>
          </a:prstGeom>
          <a:noFill/>
          <a:ln/>
        </p:spPr>
        <p:txBody>
          <a:bodyPr wrap="square" lIns="0" tIns="0" rIns="0" bIns="0" rtlCol="0" anchor="ctr"/>
          <a:lstStyle/>
          <a:p>
            <a:pPr marL="0" indent="0">
              <a:buNone/>
            </a:pPr>
            <a:r>
              <a:rPr lang="en-US" dirty="0"/>
              <a:t>A smooth field can be represented with fewer spatial samples</a:t>
            </a:r>
            <a:endParaRPr lang="en-US"/>
          </a:p>
        </p:txBody>
      </p:sp>
      <p:sp>
        <p:nvSpPr>
          <p:cNvPr id="4" name="Shape 2"/>
          <p:cNvSpPr/>
          <p:nvPr/>
        </p:nvSpPr>
        <p:spPr>
          <a:xfrm>
            <a:off x="829491" y="1203960"/>
            <a:ext cx="3840480" cy="685800"/>
          </a:xfrm>
          <a:prstGeom prst="roundRect">
            <a:avLst>
              <a:gd name="adj" fmla="val 10667"/>
            </a:avLst>
          </a:prstGeom>
          <a:solidFill>
            <a:srgbClr val="FFFFFF"/>
          </a:solidFill>
          <a:ln w="12700">
            <a:solidFill>
              <a:srgbClr val="C9D3E2"/>
            </a:solidFill>
            <a:prstDash val="solid"/>
          </a:ln>
        </p:spPr>
        <p:txBody>
          <a:bodyPr/>
          <a:lstStyle/>
          <a:p>
            <a:endParaRPr/>
          </a:p>
        </p:txBody>
      </p:sp>
      <p:sp>
        <p:nvSpPr>
          <p:cNvPr id="6" name="Shape 4"/>
          <p:cNvSpPr/>
          <p:nvPr/>
        </p:nvSpPr>
        <p:spPr>
          <a:xfrm>
            <a:off x="851263" y="2386148"/>
            <a:ext cx="3666309" cy="2094412"/>
          </a:xfrm>
          <a:prstGeom prst="roundRect">
            <a:avLst>
              <a:gd name="adj" fmla="val 3404"/>
            </a:avLst>
          </a:prstGeom>
          <a:solidFill>
            <a:srgbClr val="E9EFF7"/>
          </a:solidFill>
          <a:ln w="12700">
            <a:solidFill>
              <a:srgbClr val="C9D3E2"/>
            </a:solidFill>
            <a:prstDash val="solid"/>
          </a:ln>
        </p:spPr>
        <p:txBody>
          <a:bodyPr/>
          <a:lstStyle/>
          <a:p>
            <a:endParaRPr/>
          </a:p>
        </p:txBody>
      </p:sp>
      <p:sp>
        <p:nvSpPr>
          <p:cNvPr id="7" name="Text 5"/>
          <p:cNvSpPr/>
          <p:nvPr/>
        </p:nvSpPr>
        <p:spPr>
          <a:xfrm>
            <a:off x="960120" y="2560320"/>
            <a:ext cx="3383280" cy="320040"/>
          </a:xfrm>
          <a:prstGeom prst="rect">
            <a:avLst/>
          </a:prstGeom>
          <a:noFill/>
          <a:ln/>
        </p:spPr>
        <p:txBody>
          <a:bodyPr wrap="square" lIns="762" tIns="762" rIns="762" bIns="762" rtlCol="0" anchor="ctr">
            <a:normAutofit/>
          </a:bodyPr>
          <a:lstStyle/>
          <a:p>
            <a:pPr marL="0" indent="0" algn="ctr">
              <a:buNone/>
            </a:pPr>
            <a:r>
              <a:rPr lang="en-US" sz="2000" b="1" dirty="0">
                <a:solidFill>
                  <a:srgbClr val="263B66"/>
                </a:solidFill>
              </a:rPr>
              <a:t>spatial bin = 4</a:t>
            </a:r>
            <a:endParaRPr lang="en-US" sz="2000" dirty="0"/>
          </a:p>
        </p:txBody>
      </p:sp>
      <p:sp>
        <p:nvSpPr>
          <p:cNvPr id="9" name="Text 7"/>
          <p:cNvSpPr/>
          <p:nvPr/>
        </p:nvSpPr>
        <p:spPr>
          <a:xfrm>
            <a:off x="960120" y="3703320"/>
            <a:ext cx="3383280" cy="365760"/>
          </a:xfrm>
          <a:prstGeom prst="rect">
            <a:avLst/>
          </a:prstGeom>
          <a:noFill/>
          <a:ln/>
        </p:spPr>
        <p:txBody>
          <a:bodyPr wrap="square" lIns="762" tIns="762" rIns="762" bIns="762" rtlCol="0" anchor="ctr">
            <a:normAutofit/>
          </a:bodyPr>
          <a:lstStyle/>
          <a:p>
            <a:pPr marL="0" indent="0" algn="ctr">
              <a:buNone/>
            </a:pPr>
            <a:r>
              <a:rPr lang="en-US" sz="1800" b="1" dirty="0">
                <a:solidFill>
                  <a:srgbClr val="2F6B55"/>
                </a:solidFill>
              </a:rPr>
              <a:t>≈ 16× fewer spatial samples</a:t>
            </a:r>
            <a:endParaRPr lang="en-US" sz="1800" dirty="0"/>
          </a:p>
        </p:txBody>
      </p:sp>
      <p:sp>
        <p:nvSpPr>
          <p:cNvPr id="10" name="Shape 8"/>
          <p:cNvSpPr/>
          <p:nvPr/>
        </p:nvSpPr>
        <p:spPr>
          <a:xfrm>
            <a:off x="5177246" y="1203960"/>
            <a:ext cx="6662056" cy="3287486"/>
          </a:xfrm>
          <a:prstGeom prst="roundRect">
            <a:avLst>
              <a:gd name="adj" fmla="val 2286"/>
            </a:avLst>
          </a:prstGeom>
          <a:solidFill>
            <a:srgbClr val="FFFFFF"/>
          </a:solidFill>
          <a:ln w="12700">
            <a:solidFill>
              <a:srgbClr val="C9D3E2"/>
            </a:solidFill>
            <a:prstDash val="solid"/>
          </a:ln>
        </p:spPr>
      </p:sp>
      <p:sp>
        <p:nvSpPr>
          <p:cNvPr id="11" name="Text 9"/>
          <p:cNvSpPr/>
          <p:nvPr/>
        </p:nvSpPr>
        <p:spPr>
          <a:xfrm>
            <a:off x="5440680" y="1365940"/>
            <a:ext cx="1920240" cy="274320"/>
          </a:xfrm>
          <a:prstGeom prst="rect">
            <a:avLst/>
          </a:prstGeom>
          <a:noFill/>
          <a:ln/>
        </p:spPr>
        <p:txBody>
          <a:bodyPr wrap="square" lIns="762" tIns="762" rIns="762" bIns="762" rtlCol="0" anchor="ctr">
            <a:normAutofit/>
          </a:bodyPr>
          <a:lstStyle/>
          <a:p>
            <a:r>
              <a:rPr lang="en-US" sz="1300" b="1">
                <a:solidFill>
                  <a:srgbClr val="3E6DA9"/>
                </a:solidFill>
              </a:rPr>
              <a:t>Second observation :</a:t>
            </a:r>
            <a:endParaRPr lang="en-US" sz="1300" dirty="0"/>
          </a:p>
        </p:txBody>
      </p:sp>
      <p:sp>
        <p:nvSpPr>
          <p:cNvPr id="12" name="Text 10"/>
          <p:cNvSpPr/>
          <p:nvPr/>
        </p:nvSpPr>
        <p:spPr>
          <a:xfrm>
            <a:off x="5440680" y="2036935"/>
            <a:ext cx="5808617" cy="685800"/>
          </a:xfrm>
          <a:prstGeom prst="rect">
            <a:avLst/>
          </a:prstGeom>
          <a:noFill/>
          <a:ln/>
        </p:spPr>
        <p:txBody>
          <a:bodyPr wrap="square" lIns="762" tIns="762" rIns="762" bIns="762" rtlCol="0" anchor="ctr">
            <a:normAutofit/>
          </a:bodyPr>
          <a:lstStyle/>
          <a:p>
            <a:pPr marL="0" indent="0" algn="l">
              <a:buNone/>
            </a:pPr>
            <a:r>
              <a:rPr lang="en-US" sz="2200" b="1" dirty="0">
                <a:solidFill>
                  <a:srgbClr val="263B66"/>
                </a:solidFill>
              </a:rPr>
              <a:t>The low-frequency correction also changes slowly between nearby projections.</a:t>
            </a:r>
            <a:endParaRPr lang="en-US" sz="2200" dirty="0"/>
          </a:p>
        </p:txBody>
      </p:sp>
      <p:sp>
        <p:nvSpPr>
          <p:cNvPr id="13" name="Text 11"/>
          <p:cNvSpPr/>
          <p:nvPr/>
        </p:nvSpPr>
        <p:spPr>
          <a:xfrm>
            <a:off x="5527766" y="3324497"/>
            <a:ext cx="5303520" cy="502920"/>
          </a:xfrm>
          <a:prstGeom prst="rect">
            <a:avLst/>
          </a:prstGeom>
          <a:noFill/>
          <a:ln/>
        </p:spPr>
        <p:txBody>
          <a:bodyPr wrap="square" lIns="762" tIns="762" rIns="762" bIns="762" rtlCol="0" anchor="ctr">
            <a:normAutofit/>
          </a:bodyPr>
          <a:lstStyle/>
          <a:p>
            <a:pPr marL="0" indent="0" algn="l">
              <a:buNone/>
            </a:pPr>
            <a:r>
              <a:rPr lang="en-US" sz="1800" b="1" dirty="0">
                <a:solidFill>
                  <a:srgbClr val="1F2937"/>
                </a:solidFill>
              </a:rPr>
              <a:t>→ This suggests reducing the angular sampling as well.</a:t>
            </a:r>
            <a:endParaRPr lang="en-US" sz="1800" dirty="0"/>
          </a:p>
        </p:txBody>
      </p:sp>
      <p:sp>
        <p:nvSpPr>
          <p:cNvPr id="14" name="Shape 12"/>
          <p:cNvSpPr/>
          <p:nvPr/>
        </p:nvSpPr>
        <p:spPr>
          <a:xfrm>
            <a:off x="1417320" y="4983480"/>
            <a:ext cx="9418320" cy="566928"/>
          </a:xfrm>
          <a:prstGeom prst="roundRect">
            <a:avLst>
              <a:gd name="adj" fmla="val 12903"/>
            </a:avLst>
          </a:prstGeom>
          <a:solidFill>
            <a:srgbClr val="FFF8EB"/>
          </a:solidFill>
          <a:ln w="12700">
            <a:solidFill>
              <a:srgbClr val="E7C98B"/>
            </a:solidFill>
            <a:prstDash val="solid"/>
          </a:ln>
        </p:spPr>
      </p:sp>
      <p:sp>
        <p:nvSpPr>
          <p:cNvPr id="15" name="Text 13"/>
          <p:cNvSpPr/>
          <p:nvPr/>
        </p:nvSpPr>
        <p:spPr>
          <a:xfrm>
            <a:off x="1691640" y="5102352"/>
            <a:ext cx="8869680" cy="310896"/>
          </a:xfrm>
          <a:prstGeom prst="rect">
            <a:avLst/>
          </a:prstGeom>
          <a:noFill/>
          <a:ln/>
        </p:spPr>
        <p:txBody>
          <a:bodyPr wrap="square" lIns="762" tIns="762" rIns="762" bIns="762" rtlCol="0" anchor="ctr">
            <a:normAutofit/>
          </a:bodyPr>
          <a:lstStyle/>
          <a:p>
            <a:pPr marL="0" indent="0" algn="ctr">
              <a:buNone/>
            </a:pPr>
            <a:r>
              <a:rPr lang="en-US" sz="1250" b="1" dirty="0">
                <a:solidFill>
                  <a:srgbClr val="6D4C1B"/>
                </a:solidFill>
              </a:rPr>
              <a:t>Data reduction ≠ measured end-to-end speed-up. A final speed-up requires benchmarking the complete implementation.</a:t>
            </a:r>
            <a:endParaRPr lang="en-US" sz="1250" dirty="0"/>
          </a:p>
        </p:txBody>
      </p:sp>
      <p:sp>
        <p:nvSpPr>
          <p:cNvPr id="25" name="Slide Number Placeholder 0"/>
          <p:cNvSpPr>
            <a:spLocks noGrp="1"/>
          </p:cNvSpPr>
          <p:nvPr>
            <p:ph type="sldNum" sz="quarter" idx="4294967295"/>
          </p:nvPr>
        </p:nvSpPr>
        <p:spPr>
          <a:xfrm>
            <a:off x="11722608" y="6556248"/>
            <a:ext cx="22860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6B7280"/>
                </a:solidFill>
              </a:defRPr>
            </a:lvl1pPr>
          </a:lstStyle>
          <a:p>
            <a:pPr algn="l"/>
            <a:fld id="{F7021451-1387-4CA6-816F-3879F97B5CBC}" type="slidenum">
              <a:rPr lang="en-US" b="0"/>
              <a:t>6</a:t>
            </a:fld>
            <a:endParaRPr lang="en-US"/>
          </a:p>
        </p:txBody>
      </p:sp>
      <p:pic>
        <p:nvPicPr>
          <p:cNvPr id="26" name="Picture 25" descr="s6a.png"/>
          <p:cNvPicPr>
            <a:picLocks noChangeAspect="1"/>
          </p:cNvPicPr>
          <p:nvPr/>
        </p:nvPicPr>
        <p:blipFill>
          <a:blip r:embed="rId3"/>
          <a:stretch>
            <a:fillRect/>
          </a:stretch>
        </p:blipFill>
        <p:spPr>
          <a:xfrm>
            <a:off x="190283" y="1181753"/>
            <a:ext cx="5120639" cy="748938"/>
          </a:xfrm>
          <a:prstGeom prst="rect">
            <a:avLst/>
          </a:prstGeom>
        </p:spPr>
      </p:pic>
      <p:pic>
        <p:nvPicPr>
          <p:cNvPr id="27" name="Picture 26" descr="s6b.png"/>
          <p:cNvPicPr>
            <a:picLocks noChangeAspect="1"/>
          </p:cNvPicPr>
          <p:nvPr/>
        </p:nvPicPr>
        <p:blipFill>
          <a:blip r:embed="rId4"/>
          <a:stretch>
            <a:fillRect/>
          </a:stretch>
        </p:blipFill>
        <p:spPr>
          <a:xfrm>
            <a:off x="3049" y="2832028"/>
            <a:ext cx="5333998" cy="975358"/>
          </a:xfrm>
          <a:prstGeom prst="rect">
            <a:avLst/>
          </a:prstGeom>
        </p:spPr>
      </p:pic>
      <p:sp>
        <p:nvSpPr>
          <p:cNvPr id="28" name="TextBox 27"/>
          <p:cNvSpPr txBox="1"/>
          <p:nvPr/>
        </p:nvSpPr>
        <p:spPr>
          <a:xfrm>
            <a:off x="844731" y="1891066"/>
            <a:ext cx="3657600" cy="487313"/>
          </a:xfrm>
          <a:prstGeom prst="rect">
            <a:avLst/>
          </a:prstGeom>
          <a:noFill/>
        </p:spPr>
        <p:txBody>
          <a:bodyPr wrap="square" lIns="91440" tIns="45720" rIns="91440" bIns="45720" anchor="t">
            <a:spAutoFit/>
          </a:bodyPr>
          <a:lstStyle/>
          <a:p>
            <a:pPr>
              <a:spcAft>
                <a:spcPts val="200"/>
              </a:spcAft>
              <a:defRPr sz="1050">
                <a:solidFill>
                  <a:srgbClr val="5A646E"/>
                </a:solidFill>
                <a:latin typeface="Aptos"/>
              </a:defRPr>
            </a:pPr>
            <a:r>
              <a:rPr sz="1200" dirty="0"/>
              <a:t>b: spatial </a:t>
            </a:r>
            <a:r>
              <a:rPr sz="1200" dirty="0" err="1"/>
              <a:t>binning</a:t>
            </a:r>
            <a:r>
              <a:rPr sz="1200" dirty="0"/>
              <a:t> factor</a:t>
            </a:r>
            <a:endParaRPr lang="fr-FR" sz="1200"/>
          </a:p>
          <a:p>
            <a:pPr>
              <a:spcAft>
                <a:spcPts val="200"/>
              </a:spcAft>
              <a:defRPr sz="1050">
                <a:solidFill>
                  <a:srgbClr val="5A646E"/>
                </a:solidFill>
                <a:latin typeface="Aptos"/>
              </a:defRPr>
            </a:pPr>
            <a:r>
              <a:rPr sz="1200"/>
              <a:t>Nₓ, Nᵧ: original image dimensions</a:t>
            </a:r>
            <a:endParaRPr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347472"/>
            <a:ext cx="10972800" cy="411480"/>
          </a:xfrm>
          <a:prstGeom prst="rect">
            <a:avLst/>
          </a:prstGeom>
          <a:noFill/>
          <a:ln/>
        </p:spPr>
        <p:txBody>
          <a:bodyPr wrap="square" lIns="0" tIns="0" rIns="0" bIns="0" rtlCol="0" anchor="ctr"/>
          <a:lstStyle/>
          <a:p>
            <a:pPr marL="0" indent="0">
              <a:buNone/>
            </a:pPr>
            <a:r>
              <a:rPr lang="en-US" sz="2400" b="1" dirty="0">
                <a:solidFill>
                  <a:srgbClr val="263B66"/>
                </a:solidFill>
              </a:rPr>
              <a:t>We do not need the LF correction for every projection</a:t>
            </a:r>
            <a:endParaRPr lang="en-US" sz="2400" dirty="0"/>
          </a:p>
        </p:txBody>
      </p:sp>
      <p:sp>
        <p:nvSpPr>
          <p:cNvPr id="3" name="Text 1"/>
          <p:cNvSpPr/>
          <p:nvPr/>
        </p:nvSpPr>
        <p:spPr>
          <a:xfrm>
            <a:off x="612648" y="804672"/>
            <a:ext cx="10881360" cy="256032"/>
          </a:xfrm>
          <a:prstGeom prst="rect">
            <a:avLst/>
          </a:prstGeom>
          <a:noFill/>
          <a:ln/>
        </p:spPr>
        <p:txBody>
          <a:bodyPr wrap="square" lIns="0" tIns="0" rIns="0" bIns="0" rtlCol="0" anchor="ctr"/>
          <a:lstStyle/>
          <a:p>
            <a:r>
              <a:rPr lang="en-US" dirty="0"/>
              <a:t>Predict projection 102 from two nearby corrected projections</a:t>
            </a:r>
            <a:endParaRPr lang="en-US"/>
          </a:p>
        </p:txBody>
      </p:sp>
      <p:sp>
        <p:nvSpPr>
          <p:cNvPr id="4" name="Shape 2"/>
          <p:cNvSpPr/>
          <p:nvPr/>
        </p:nvSpPr>
        <p:spPr>
          <a:xfrm>
            <a:off x="777240" y="1458686"/>
            <a:ext cx="1325880" cy="640080"/>
          </a:xfrm>
          <a:prstGeom prst="roundRect">
            <a:avLst>
              <a:gd name="adj" fmla="val 11429"/>
            </a:avLst>
          </a:prstGeom>
          <a:solidFill>
            <a:srgbClr val="FFFFFF"/>
          </a:solidFill>
          <a:ln w="12700">
            <a:solidFill>
              <a:srgbClr val="C9D3E2"/>
            </a:solidFill>
            <a:prstDash val="solid"/>
          </a:ln>
        </p:spPr>
        <p:txBody>
          <a:bodyPr/>
          <a:lstStyle/>
          <a:p>
            <a:endParaRPr/>
          </a:p>
        </p:txBody>
      </p:sp>
      <p:sp>
        <p:nvSpPr>
          <p:cNvPr id="5" name="Text 3"/>
          <p:cNvSpPr/>
          <p:nvPr/>
        </p:nvSpPr>
        <p:spPr>
          <a:xfrm>
            <a:off x="777240" y="1469571"/>
            <a:ext cx="1325880" cy="640080"/>
          </a:xfrm>
          <a:prstGeom prst="rect">
            <a:avLst/>
          </a:prstGeom>
          <a:noFill/>
          <a:ln/>
        </p:spPr>
        <p:txBody>
          <a:bodyPr wrap="square" lIns="762" tIns="762" rIns="762" bIns="762" rtlCol="0" anchor="ctr">
            <a:normAutofit/>
          </a:bodyPr>
          <a:lstStyle/>
          <a:p>
            <a:pPr marL="0" indent="0" algn="ctr">
              <a:buNone/>
            </a:pPr>
            <a:r>
              <a:rPr lang="en-US" sz="1300" b="1" dirty="0">
                <a:solidFill>
                  <a:srgbClr val="1F2937"/>
                </a:solidFill>
              </a:rPr>
              <a:t>Projection 100</a:t>
            </a:r>
            <a:endParaRPr lang="en-US" sz="1300" dirty="0"/>
          </a:p>
        </p:txBody>
      </p:sp>
      <p:sp>
        <p:nvSpPr>
          <p:cNvPr id="6" name="Shape 4"/>
          <p:cNvSpPr/>
          <p:nvPr/>
        </p:nvSpPr>
        <p:spPr>
          <a:xfrm>
            <a:off x="2427514" y="1458686"/>
            <a:ext cx="1325880" cy="640080"/>
          </a:xfrm>
          <a:prstGeom prst="roundRect">
            <a:avLst>
              <a:gd name="adj" fmla="val 11429"/>
            </a:avLst>
          </a:prstGeom>
          <a:solidFill>
            <a:srgbClr val="E9EFF7"/>
          </a:solidFill>
          <a:ln w="12700">
            <a:solidFill>
              <a:srgbClr val="3E6DA9"/>
            </a:solidFill>
            <a:prstDash val="solid"/>
          </a:ln>
        </p:spPr>
        <p:txBody>
          <a:bodyPr/>
          <a:lstStyle/>
          <a:p>
            <a:endParaRPr/>
          </a:p>
        </p:txBody>
      </p:sp>
      <p:sp>
        <p:nvSpPr>
          <p:cNvPr id="7" name="Text 5"/>
          <p:cNvSpPr/>
          <p:nvPr/>
        </p:nvSpPr>
        <p:spPr>
          <a:xfrm>
            <a:off x="2427514" y="1458686"/>
            <a:ext cx="1325880" cy="640080"/>
          </a:xfrm>
          <a:prstGeom prst="rect">
            <a:avLst/>
          </a:prstGeom>
          <a:noFill/>
          <a:ln/>
        </p:spPr>
        <p:txBody>
          <a:bodyPr wrap="square" lIns="762" tIns="762" rIns="762" bIns="762" rtlCol="0" anchor="ctr">
            <a:normAutofit/>
          </a:bodyPr>
          <a:lstStyle/>
          <a:p>
            <a:pPr marL="0" indent="0" algn="ctr">
              <a:buNone/>
            </a:pPr>
            <a:r>
              <a:rPr lang="en-US" sz="1300" b="1" dirty="0">
                <a:solidFill>
                  <a:srgbClr val="1F2937"/>
                </a:solidFill>
              </a:rPr>
              <a:t>Projection 102</a:t>
            </a:r>
            <a:endParaRPr lang="en-US" sz="1300" dirty="0"/>
          </a:p>
        </p:txBody>
      </p:sp>
      <p:sp>
        <p:nvSpPr>
          <p:cNvPr id="8" name="Shape 6"/>
          <p:cNvSpPr/>
          <p:nvPr/>
        </p:nvSpPr>
        <p:spPr>
          <a:xfrm>
            <a:off x="4066903" y="1458686"/>
            <a:ext cx="1325880" cy="640080"/>
          </a:xfrm>
          <a:prstGeom prst="roundRect">
            <a:avLst>
              <a:gd name="adj" fmla="val 11429"/>
            </a:avLst>
          </a:prstGeom>
          <a:solidFill>
            <a:srgbClr val="FFFFFF"/>
          </a:solidFill>
          <a:ln w="12700">
            <a:solidFill>
              <a:srgbClr val="C9D3E2"/>
            </a:solidFill>
            <a:prstDash val="solid"/>
          </a:ln>
        </p:spPr>
        <p:txBody>
          <a:bodyPr/>
          <a:lstStyle/>
          <a:p>
            <a:endParaRPr/>
          </a:p>
        </p:txBody>
      </p:sp>
      <p:sp>
        <p:nvSpPr>
          <p:cNvPr id="9" name="Text 7"/>
          <p:cNvSpPr/>
          <p:nvPr/>
        </p:nvSpPr>
        <p:spPr>
          <a:xfrm>
            <a:off x="4066903" y="1458686"/>
            <a:ext cx="1325880" cy="640080"/>
          </a:xfrm>
          <a:prstGeom prst="rect">
            <a:avLst/>
          </a:prstGeom>
          <a:noFill/>
          <a:ln/>
        </p:spPr>
        <p:txBody>
          <a:bodyPr wrap="square" lIns="762" tIns="762" rIns="762" bIns="762" rtlCol="0" anchor="ctr">
            <a:normAutofit/>
          </a:bodyPr>
          <a:lstStyle/>
          <a:p>
            <a:pPr marL="0" indent="0" algn="ctr">
              <a:buNone/>
            </a:pPr>
            <a:r>
              <a:rPr lang="en-US" sz="1300" b="1" dirty="0">
                <a:solidFill>
                  <a:srgbClr val="1F2937"/>
                </a:solidFill>
              </a:rPr>
              <a:t>Projection 104</a:t>
            </a:r>
            <a:endParaRPr lang="en-US" sz="1300" dirty="0"/>
          </a:p>
        </p:txBody>
      </p:sp>
      <p:sp>
        <p:nvSpPr>
          <p:cNvPr id="10" name="Shape 8"/>
          <p:cNvSpPr/>
          <p:nvPr/>
        </p:nvSpPr>
        <p:spPr>
          <a:xfrm rot="10800000">
            <a:off x="2105297" y="1661595"/>
            <a:ext cx="320040" cy="246888"/>
          </a:xfrm>
          <a:prstGeom prst="chevron">
            <a:avLst/>
          </a:prstGeom>
          <a:solidFill>
            <a:srgbClr val="3E6DA9"/>
          </a:solidFill>
          <a:ln w="12700">
            <a:solidFill>
              <a:srgbClr val="3E6DA9"/>
            </a:solidFill>
            <a:prstDash val="solid"/>
          </a:ln>
        </p:spPr>
        <p:txBody>
          <a:bodyPr/>
          <a:lstStyle/>
          <a:p>
            <a:endParaRPr/>
          </a:p>
        </p:txBody>
      </p:sp>
      <p:sp>
        <p:nvSpPr>
          <p:cNvPr id="11" name="Shape 9"/>
          <p:cNvSpPr/>
          <p:nvPr/>
        </p:nvSpPr>
        <p:spPr>
          <a:xfrm>
            <a:off x="3750346" y="1661595"/>
            <a:ext cx="320040" cy="246888"/>
          </a:xfrm>
          <a:prstGeom prst="chevron">
            <a:avLst/>
          </a:prstGeom>
          <a:solidFill>
            <a:srgbClr val="3E6DA9"/>
          </a:solidFill>
          <a:ln w="12700">
            <a:solidFill>
              <a:srgbClr val="3E6DA9"/>
            </a:solidFill>
            <a:prstDash val="solid"/>
          </a:ln>
        </p:spPr>
        <p:txBody>
          <a:bodyPr/>
          <a:lstStyle/>
          <a:p>
            <a:endParaRPr/>
          </a:p>
        </p:txBody>
      </p:sp>
      <p:sp>
        <p:nvSpPr>
          <p:cNvPr id="12" name="Shape 10"/>
          <p:cNvSpPr/>
          <p:nvPr/>
        </p:nvSpPr>
        <p:spPr>
          <a:xfrm>
            <a:off x="711926" y="2427514"/>
            <a:ext cx="4680857" cy="659674"/>
          </a:xfrm>
          <a:prstGeom prst="roundRect">
            <a:avLst>
              <a:gd name="adj" fmla="val 12308"/>
            </a:avLst>
          </a:prstGeom>
          <a:solidFill>
            <a:srgbClr val="FFFFFF"/>
          </a:solidFill>
          <a:ln w="12700">
            <a:solidFill>
              <a:srgbClr val="C9D3E2"/>
            </a:solidFill>
            <a:prstDash val="solid"/>
          </a:ln>
        </p:spPr>
        <p:txBody>
          <a:bodyPr/>
          <a:lstStyle/>
          <a:p>
            <a:endParaRPr/>
          </a:p>
        </p:txBody>
      </p:sp>
      <p:sp>
        <p:nvSpPr>
          <p:cNvPr id="15" name="Shape 13"/>
          <p:cNvSpPr/>
          <p:nvPr/>
        </p:nvSpPr>
        <p:spPr>
          <a:xfrm>
            <a:off x="5852160" y="1097280"/>
            <a:ext cx="5486400" cy="4572000"/>
          </a:xfrm>
          <a:prstGeom prst="roundRect">
            <a:avLst>
              <a:gd name="adj" fmla="val 1600"/>
            </a:avLst>
          </a:prstGeom>
          <a:solidFill>
            <a:srgbClr val="FFFFFF"/>
          </a:solidFill>
          <a:ln w="12700">
            <a:solidFill>
              <a:srgbClr val="98A2B3"/>
            </a:solidFill>
            <a:prstDash val="solid"/>
          </a:ln>
        </p:spPr>
      </p:sp>
      <p:sp>
        <p:nvSpPr>
          <p:cNvPr id="16" name="Text 14"/>
          <p:cNvSpPr/>
          <p:nvPr/>
        </p:nvSpPr>
        <p:spPr>
          <a:xfrm>
            <a:off x="5989320" y="1261872"/>
            <a:ext cx="5212080" cy="3977640"/>
          </a:xfrm>
          <a:prstGeom prst="rect">
            <a:avLst/>
          </a:prstGeom>
          <a:noFill/>
          <a:ln/>
        </p:spPr>
        <p:txBody>
          <a:bodyPr wrap="square" lIns="635" tIns="635" rIns="635" bIns="635" rtlCol="0" anchor="ctr">
            <a:normAutofit/>
          </a:bodyPr>
          <a:lstStyle/>
          <a:p>
            <a:pPr marL="0" indent="0" algn="ctr">
              <a:buNone/>
            </a:pPr>
            <a:r>
              <a:rPr lang="en-US" sz="1500" b="1" dirty="0">
                <a:solidFill>
                  <a:srgbClr val="667085"/>
                </a:solidFill>
              </a:rPr>
              <a:t>ADD FIGURE</a:t>
            </a:r>
            <a:endParaRPr lang="en-US" sz="1500" dirty="0"/>
          </a:p>
          <a:p>
            <a:pPr marL="0" indent="0" algn="ctr">
              <a:buNone/>
            </a:pPr>
            <a:r>
              <a:rPr lang="en-US" sz="1500" b="1" dirty="0">
                <a:solidFill>
                  <a:srgbClr val="667085"/>
                </a:solidFill>
              </a:rPr>
              <a:t>Low-frequency interpolation figure — σ=8, spatial bin=4, angular bin=4</a:t>
            </a:r>
            <a:endParaRPr lang="en-US" sz="1500" dirty="0"/>
          </a:p>
        </p:txBody>
      </p:sp>
      <p:sp>
        <p:nvSpPr>
          <p:cNvPr id="17" name="Text 15"/>
          <p:cNvSpPr/>
          <p:nvPr/>
        </p:nvSpPr>
        <p:spPr>
          <a:xfrm>
            <a:off x="5874368" y="6166975"/>
            <a:ext cx="5463756" cy="397981"/>
          </a:xfrm>
          <a:prstGeom prst="rect">
            <a:avLst/>
          </a:prstGeom>
          <a:noFill/>
          <a:ln/>
        </p:spPr>
        <p:txBody>
          <a:bodyPr wrap="square" lIns="254" tIns="254" rIns="254" bIns="254" rtlCol="0" anchor="ctr">
            <a:noAutofit/>
          </a:bodyPr>
          <a:lstStyle/>
          <a:p>
            <a:pPr algn="ctr"/>
            <a:r>
              <a:rPr lang="en-US" sz="1000">
                <a:ea typeface="+mn-lt"/>
                <a:cs typeface="+mn-lt"/>
              </a:rPr>
              <a:t>Low-frequency correction at projection 102, predicted from projections 100 and 104 using spatial binning ×4 and angular interpolation ×4. The residual (right) is displayed with a symmetric diverging scale centered at zero.</a:t>
            </a:r>
            <a:endParaRPr lang="fr-FR" sz="1000">
              <a:ea typeface="+mn-lt"/>
              <a:cs typeface="+mn-lt"/>
            </a:endParaRPr>
          </a:p>
        </p:txBody>
      </p:sp>
      <p:sp>
        <p:nvSpPr>
          <p:cNvPr id="25" name="Slide Number Placeholder 0"/>
          <p:cNvSpPr>
            <a:spLocks noGrp="1"/>
          </p:cNvSpPr>
          <p:nvPr>
            <p:ph type="sldNum" sz="quarter" idx="4294967295"/>
          </p:nvPr>
        </p:nvSpPr>
        <p:spPr>
          <a:xfrm>
            <a:off x="11722608" y="6556248"/>
            <a:ext cx="22860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6B7280"/>
                </a:solidFill>
              </a:defRPr>
            </a:lvl1pPr>
          </a:lstStyle>
          <a:p>
            <a:pPr algn="l"/>
            <a:fld id="{F7021451-1387-4CA6-816F-3879F97B5CBC}" type="slidenum">
              <a:rPr lang="en-US" b="0"/>
              <a:t>7</a:t>
            </a:fld>
            <a:endParaRPr lang="en-US"/>
          </a:p>
        </p:txBody>
      </p:sp>
      <p:pic>
        <p:nvPicPr>
          <p:cNvPr id="26" name="Picture 25" descr="s7.png"/>
          <p:cNvPicPr>
            <a:picLocks noChangeAspect="1"/>
          </p:cNvPicPr>
          <p:nvPr/>
        </p:nvPicPr>
        <p:blipFill>
          <a:blip r:embed="rId3"/>
          <a:srcRect l="1035" t="-16071" r="-1035" b="14286"/>
          <a:stretch>
            <a:fillRect/>
          </a:stretch>
        </p:blipFill>
        <p:spPr>
          <a:xfrm>
            <a:off x="-215537" y="2330413"/>
            <a:ext cx="6607634" cy="760865"/>
          </a:xfrm>
          <a:prstGeom prst="rect">
            <a:avLst/>
          </a:prstGeom>
        </p:spPr>
      </p:pic>
      <p:sp>
        <p:nvSpPr>
          <p:cNvPr id="27" name="TextBox 26"/>
          <p:cNvSpPr txBox="1"/>
          <p:nvPr/>
        </p:nvSpPr>
        <p:spPr>
          <a:xfrm>
            <a:off x="691025" y="3675888"/>
            <a:ext cx="4983480" cy="836126"/>
          </a:xfrm>
          <a:prstGeom prst="rect">
            <a:avLst/>
          </a:prstGeom>
          <a:noFill/>
        </p:spPr>
        <p:txBody>
          <a:bodyPr wrap="square" lIns="91440" tIns="45720" rIns="91440" bIns="45720" anchor="t">
            <a:spAutoFit/>
          </a:bodyPr>
          <a:lstStyle/>
          <a:p>
            <a:pPr>
              <a:spcAft>
                <a:spcPts val="200"/>
              </a:spcAft>
              <a:defRPr sz="1030">
                <a:solidFill>
                  <a:srgbClr val="5A646E"/>
                </a:solidFill>
                <a:latin typeface="Aptos"/>
              </a:defRPr>
            </a:pPr>
            <a:r>
              <a:rPr lang="fr-FR" sz="1500" dirty="0"/>
              <a:t>t=(102−100)/(104−100)=1/2: interpolation </a:t>
            </a:r>
            <a:r>
              <a:rPr lang="fr-FR" sz="1500" dirty="0" err="1"/>
              <a:t>weight</a:t>
            </a:r>
            <a:endParaRPr lang="fr-FR" sz="1500" dirty="0"/>
          </a:p>
          <a:p>
            <a:pPr>
              <a:spcAft>
                <a:spcPts val="200"/>
              </a:spcAft>
              <a:defRPr sz="1030">
                <a:solidFill>
                  <a:srgbClr val="5A646E"/>
                </a:solidFill>
                <a:latin typeface="Aptos"/>
              </a:defRPr>
            </a:pPr>
            <a:r>
              <a:rPr lang="fr-FR" sz="1500" dirty="0"/>
              <a:t>Cᵢ: </a:t>
            </a:r>
            <a:r>
              <a:rPr lang="fr-FR" sz="1500" dirty="0" err="1"/>
              <a:t>beam-current</a:t>
            </a:r>
            <a:r>
              <a:rPr lang="fr-FR" sz="1500" dirty="0"/>
              <a:t> </a:t>
            </a:r>
            <a:r>
              <a:rPr lang="fr-FR" sz="1500" dirty="0" err="1"/>
              <a:t>normalization</a:t>
            </a:r>
            <a:r>
              <a:rPr lang="fr-FR" sz="1500" dirty="0"/>
              <a:t> for projection </a:t>
            </a:r>
            <a:r>
              <a:rPr lang="fr-FR" sz="1500" dirty="0" err="1"/>
              <a:t>i</a:t>
            </a:r>
            <a:r>
              <a:rPr lang="fr-FR" sz="1500" dirty="0"/>
              <a:t> </a:t>
            </a:r>
          </a:p>
          <a:p>
            <a:pPr>
              <a:spcAft>
                <a:spcPts val="200"/>
              </a:spcAft>
              <a:defRPr sz="1030">
                <a:solidFill>
                  <a:srgbClr val="5A646E"/>
                </a:solidFill>
                <a:latin typeface="Aptos"/>
              </a:defRPr>
            </a:pPr>
            <a:r>
              <a:rPr lang="fr-FR" sz="1500" dirty="0"/>
              <a:t>Q_LF(</a:t>
            </a:r>
            <a:r>
              <a:rPr lang="fr-FR" sz="1500" err="1"/>
              <a:t>i</a:t>
            </a:r>
            <a:r>
              <a:rPr lang="fr-FR" sz="1500" dirty="0"/>
              <a:t>): LF correction of projection </a:t>
            </a:r>
            <a:r>
              <a:rPr lang="fr-FR" sz="1500" err="1"/>
              <a:t>i</a:t>
            </a:r>
            <a:endParaRPr lang="fr-FR" sz="1500" dirty="0"/>
          </a:p>
        </p:txBody>
      </p:sp>
      <p:pic>
        <p:nvPicPr>
          <p:cNvPr id="14" name="Image 13">
            <a:extLst>
              <a:ext uri="{FF2B5EF4-FFF2-40B4-BE49-F238E27FC236}">
                <a16:creationId xmlns:a16="http://schemas.microsoft.com/office/drawing/2014/main" id="{988FBA5B-896E-B01D-A389-4EE6F3B5410C}"/>
              </a:ext>
            </a:extLst>
          </p:cNvPr>
          <p:cNvPicPr>
            <a:picLocks noChangeAspect="1"/>
          </p:cNvPicPr>
          <p:nvPr/>
        </p:nvPicPr>
        <p:blipFill>
          <a:blip r:embed="rId4"/>
          <a:stretch>
            <a:fillRect/>
          </a:stretch>
        </p:blipFill>
        <p:spPr>
          <a:xfrm>
            <a:off x="5856513" y="1055915"/>
            <a:ext cx="5780316" cy="5094515"/>
          </a:xfrm>
          <a:prstGeom prst="rect">
            <a:avLst/>
          </a:prstGeom>
        </p:spPr>
      </p:pic>
      <p:sp>
        <p:nvSpPr>
          <p:cNvPr id="18" name="ZoneTexte 17">
            <a:extLst>
              <a:ext uri="{FF2B5EF4-FFF2-40B4-BE49-F238E27FC236}">
                <a16:creationId xmlns:a16="http://schemas.microsoft.com/office/drawing/2014/main" id="{BE98A3A7-FC8E-1B31-27A1-DEBEDD46D279}"/>
              </a:ext>
            </a:extLst>
          </p:cNvPr>
          <p:cNvSpPr txBox="1"/>
          <p:nvPr/>
        </p:nvSpPr>
        <p:spPr>
          <a:xfrm>
            <a:off x="194264" y="4601411"/>
            <a:ext cx="5470355"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b="1" dirty="0" err="1">
                <a:ea typeface="+mn-lt"/>
                <a:cs typeface="+mn-lt"/>
              </a:rPr>
              <a:t>Residual</a:t>
            </a:r>
            <a:r>
              <a:rPr lang="fr-FR" b="1" dirty="0">
                <a:ea typeface="+mn-lt"/>
                <a:cs typeface="+mn-lt"/>
              </a:rPr>
              <a:t> fluctuations are </a:t>
            </a:r>
            <a:r>
              <a:rPr lang="fr-FR" b="1" dirty="0" err="1">
                <a:ea typeface="+mn-lt"/>
                <a:cs typeface="+mn-lt"/>
              </a:rPr>
              <a:t>small</a:t>
            </a:r>
            <a:r>
              <a:rPr lang="fr-FR" b="1" dirty="0">
                <a:ea typeface="+mn-lt"/>
                <a:cs typeface="+mn-lt"/>
              </a:rPr>
              <a:t> </a:t>
            </a:r>
            <a:r>
              <a:rPr lang="fr-FR" b="1" dirty="0" err="1">
                <a:ea typeface="+mn-lt"/>
                <a:cs typeface="+mn-lt"/>
              </a:rPr>
              <a:t>compared</a:t>
            </a:r>
            <a:r>
              <a:rPr lang="fr-FR" b="1" dirty="0">
                <a:ea typeface="+mn-lt"/>
                <a:cs typeface="+mn-lt"/>
              </a:rPr>
              <a:t> </a:t>
            </a:r>
            <a:r>
              <a:rPr lang="fr-FR" b="1" dirty="0" err="1">
                <a:ea typeface="+mn-lt"/>
                <a:cs typeface="+mn-lt"/>
              </a:rPr>
              <a:t>with</a:t>
            </a:r>
            <a:r>
              <a:rPr lang="fr-FR" b="1" dirty="0">
                <a:ea typeface="+mn-lt"/>
                <a:cs typeface="+mn-lt"/>
              </a:rPr>
              <a:t> the LF correction :</a:t>
            </a:r>
            <a:r>
              <a:rPr lang="fr-FR" dirty="0">
                <a:ea typeface="+mn-lt"/>
                <a:cs typeface="+mn-lt"/>
              </a:rPr>
              <a:t> </a:t>
            </a:r>
            <a:br>
              <a:rPr lang="fr-FR" dirty="0">
                <a:ea typeface="+mn-lt"/>
                <a:cs typeface="+mn-lt"/>
              </a:rPr>
            </a:br>
            <a:r>
              <a:rPr lang="fr-FR" dirty="0">
                <a:ea typeface="+mn-lt"/>
                <a:cs typeface="+mn-lt"/>
              </a:rPr>
              <a:t>       std(</a:t>
            </a:r>
            <a:r>
              <a:rPr lang="fr-FR" dirty="0" err="1">
                <a:ea typeface="+mn-lt"/>
                <a:cs typeface="+mn-lt"/>
              </a:rPr>
              <a:t>true</a:t>
            </a:r>
            <a:r>
              <a:rPr lang="fr-FR" dirty="0">
                <a:ea typeface="+mn-lt"/>
                <a:cs typeface="+mn-lt"/>
              </a:rPr>
              <a:t> LF) = 137.6</a:t>
            </a:r>
            <a:br>
              <a:rPr lang="fr-FR" dirty="0">
                <a:ea typeface="+mn-lt"/>
                <a:cs typeface="+mn-lt"/>
              </a:rPr>
            </a:br>
            <a:r>
              <a:rPr lang="fr-FR" dirty="0">
                <a:ea typeface="+mn-lt"/>
                <a:cs typeface="+mn-lt"/>
              </a:rPr>
              <a:t>       std(</a:t>
            </a:r>
            <a:r>
              <a:rPr lang="fr-FR" dirty="0" err="1">
                <a:ea typeface="+mn-lt"/>
                <a:cs typeface="+mn-lt"/>
              </a:rPr>
              <a:t>interpolated</a:t>
            </a:r>
            <a:r>
              <a:rPr lang="fr-FR" dirty="0">
                <a:ea typeface="+mn-lt"/>
                <a:cs typeface="+mn-lt"/>
              </a:rPr>
              <a:t> LF) = 136.9</a:t>
            </a:r>
            <a:br>
              <a:rPr lang="fr-FR" dirty="0">
                <a:ea typeface="+mn-lt"/>
                <a:cs typeface="+mn-lt"/>
              </a:rPr>
            </a:br>
            <a:r>
              <a:rPr lang="fr-FR" dirty="0">
                <a:ea typeface="+mn-lt"/>
                <a:cs typeface="+mn-lt"/>
              </a:rPr>
              <a:t>        std(</a:t>
            </a:r>
            <a:r>
              <a:rPr lang="fr-FR" dirty="0" err="1">
                <a:ea typeface="+mn-lt"/>
                <a:cs typeface="+mn-lt"/>
              </a:rPr>
              <a:t>residual</a:t>
            </a:r>
            <a:r>
              <a:rPr lang="fr-FR" dirty="0">
                <a:ea typeface="+mn-lt"/>
                <a:cs typeface="+mn-lt"/>
              </a:rPr>
              <a:t>) = 3.81</a:t>
            </a:r>
            <a:br>
              <a:rPr lang="fr-FR" dirty="0">
                <a:ea typeface="+mn-lt"/>
                <a:cs typeface="+mn-lt"/>
              </a:rPr>
            </a:br>
            <a:r>
              <a:rPr lang="fr-FR" dirty="0">
                <a:ea typeface="+mn-lt"/>
                <a:cs typeface="+mn-lt"/>
              </a:rPr>
              <a:t> </a:t>
            </a:r>
            <a:r>
              <a:rPr lang="fr-FR" dirty="0">
                <a:solidFill>
                  <a:srgbClr val="C00000"/>
                </a:solidFill>
                <a:ea typeface="+mn-lt"/>
                <a:cs typeface="+mn-lt"/>
              </a:rPr>
              <a:t>→ </a:t>
            </a:r>
            <a:r>
              <a:rPr lang="fr-FR" dirty="0" err="1">
                <a:solidFill>
                  <a:srgbClr val="C00000"/>
                </a:solidFill>
                <a:ea typeface="+mn-lt"/>
                <a:cs typeface="+mn-lt"/>
              </a:rPr>
              <a:t>residual</a:t>
            </a:r>
            <a:r>
              <a:rPr lang="fr-FR" dirty="0">
                <a:solidFill>
                  <a:srgbClr val="C00000"/>
                </a:solidFill>
                <a:ea typeface="+mn-lt"/>
                <a:cs typeface="+mn-lt"/>
              </a:rPr>
              <a:t> std ≈ 2.8% of </a:t>
            </a:r>
            <a:r>
              <a:rPr lang="fr-FR" dirty="0" err="1">
                <a:solidFill>
                  <a:srgbClr val="C00000"/>
                </a:solidFill>
                <a:ea typeface="+mn-lt"/>
                <a:cs typeface="+mn-lt"/>
              </a:rPr>
              <a:t>true</a:t>
            </a:r>
            <a:r>
              <a:rPr lang="fr-FR" dirty="0">
                <a:solidFill>
                  <a:srgbClr val="C00000"/>
                </a:solidFill>
                <a:ea typeface="+mn-lt"/>
                <a:cs typeface="+mn-lt"/>
              </a:rPr>
              <a:t>-LF std</a:t>
            </a:r>
            <a:endParaRPr lang="fr-FR">
              <a:solidFill>
                <a:srgbClr val="C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347472"/>
            <a:ext cx="10972800" cy="411480"/>
          </a:xfrm>
          <a:prstGeom prst="rect">
            <a:avLst/>
          </a:prstGeom>
          <a:noFill/>
          <a:ln/>
        </p:spPr>
        <p:txBody>
          <a:bodyPr wrap="square" lIns="0" tIns="0" rIns="0" bIns="0" rtlCol="0" anchor="ctr"/>
          <a:lstStyle/>
          <a:p>
            <a:pPr marL="0" indent="0">
              <a:buNone/>
            </a:pPr>
            <a:r>
              <a:rPr lang="en-US" sz="2400" b="1" dirty="0">
                <a:solidFill>
                  <a:srgbClr val="263B66"/>
                </a:solidFill>
              </a:rPr>
              <a:t>The high-frequency part is local</a:t>
            </a:r>
            <a:endParaRPr lang="en-US" sz="2400" dirty="0"/>
          </a:p>
        </p:txBody>
      </p:sp>
      <p:sp>
        <p:nvSpPr>
          <p:cNvPr id="3" name="Text 1"/>
          <p:cNvSpPr/>
          <p:nvPr/>
        </p:nvSpPr>
        <p:spPr>
          <a:xfrm>
            <a:off x="612648" y="804672"/>
            <a:ext cx="10881360" cy="256032"/>
          </a:xfrm>
          <a:prstGeom prst="rect">
            <a:avLst/>
          </a:prstGeom>
          <a:noFill/>
          <a:ln/>
        </p:spPr>
        <p:txBody>
          <a:bodyPr wrap="square" lIns="0" tIns="0" rIns="0" bIns="0" rtlCol="0" anchor="ctr"/>
          <a:lstStyle/>
          <a:p>
            <a:pPr marL="0" indent="0">
              <a:buNone/>
            </a:pPr>
            <a:r>
              <a:rPr lang="en-US" dirty="0"/>
              <a:t>Fine spatial details must be preserved, but they do not require the full projection height</a:t>
            </a:r>
            <a:endParaRPr lang="en-US"/>
          </a:p>
        </p:txBody>
      </p:sp>
      <p:sp>
        <p:nvSpPr>
          <p:cNvPr id="4" name="Shape 2"/>
          <p:cNvSpPr/>
          <p:nvPr/>
        </p:nvSpPr>
        <p:spPr>
          <a:xfrm>
            <a:off x="685800" y="1188720"/>
            <a:ext cx="2834640" cy="640080"/>
          </a:xfrm>
          <a:prstGeom prst="roundRect">
            <a:avLst>
              <a:gd name="adj" fmla="val 11429"/>
            </a:avLst>
          </a:prstGeom>
          <a:solidFill>
            <a:srgbClr val="FFFFFF"/>
          </a:solidFill>
          <a:ln w="12700">
            <a:solidFill>
              <a:srgbClr val="C9D3E2"/>
            </a:solidFill>
            <a:prstDash val="solid"/>
          </a:ln>
        </p:spPr>
        <p:txBody>
          <a:bodyPr/>
          <a:lstStyle/>
          <a:p>
            <a:endParaRPr/>
          </a:p>
        </p:txBody>
      </p:sp>
      <p:sp>
        <p:nvSpPr>
          <p:cNvPr id="6" name="Shape 4"/>
          <p:cNvSpPr/>
          <p:nvPr/>
        </p:nvSpPr>
        <p:spPr>
          <a:xfrm>
            <a:off x="598714" y="3276600"/>
            <a:ext cx="2834640" cy="1188720"/>
          </a:xfrm>
          <a:prstGeom prst="roundRect">
            <a:avLst>
              <a:gd name="adj" fmla="val 6154"/>
            </a:avLst>
          </a:prstGeom>
          <a:solidFill>
            <a:srgbClr val="E9EFF7"/>
          </a:solidFill>
          <a:ln w="12700">
            <a:solidFill>
              <a:srgbClr val="C9D3E2"/>
            </a:solidFill>
            <a:prstDash val="solid"/>
          </a:ln>
        </p:spPr>
      </p:sp>
      <p:sp>
        <p:nvSpPr>
          <p:cNvPr id="7" name="Text 5"/>
          <p:cNvSpPr/>
          <p:nvPr/>
        </p:nvSpPr>
        <p:spPr>
          <a:xfrm>
            <a:off x="914400" y="3505200"/>
            <a:ext cx="2377440" cy="731520"/>
          </a:xfrm>
          <a:prstGeom prst="rect">
            <a:avLst/>
          </a:prstGeom>
          <a:noFill/>
          <a:ln/>
        </p:spPr>
        <p:txBody>
          <a:bodyPr wrap="square" lIns="762" tIns="762" rIns="762" bIns="762" rtlCol="0" anchor="ctr">
            <a:normAutofit/>
          </a:bodyPr>
          <a:lstStyle/>
          <a:p>
            <a:pPr marL="0" indent="0" algn="ctr">
              <a:buNone/>
            </a:pPr>
            <a:r>
              <a:rPr lang="en-US" sz="1700" b="1" dirty="0">
                <a:solidFill>
                  <a:srgbClr val="263B66"/>
                </a:solidFill>
              </a:rPr>
              <a:t>HF amplitude decreases rapidly with distance from the kernel center.</a:t>
            </a:r>
            <a:endParaRPr lang="en-US" sz="1700" dirty="0"/>
          </a:p>
        </p:txBody>
      </p:sp>
      <p:sp>
        <p:nvSpPr>
          <p:cNvPr id="8" name="Shape 6"/>
          <p:cNvSpPr/>
          <p:nvPr/>
        </p:nvSpPr>
        <p:spPr>
          <a:xfrm>
            <a:off x="3794760" y="1143000"/>
            <a:ext cx="7543800" cy="4526280"/>
          </a:xfrm>
          <a:prstGeom prst="roundRect">
            <a:avLst>
              <a:gd name="adj" fmla="val 1616"/>
            </a:avLst>
          </a:prstGeom>
          <a:solidFill>
            <a:srgbClr val="FFFFFF"/>
          </a:solidFill>
          <a:ln w="12700">
            <a:solidFill>
              <a:srgbClr val="98A2B3"/>
            </a:solidFill>
            <a:prstDash val="solid"/>
          </a:ln>
        </p:spPr>
      </p:sp>
      <p:sp>
        <p:nvSpPr>
          <p:cNvPr id="9" name="Text 7"/>
          <p:cNvSpPr/>
          <p:nvPr/>
        </p:nvSpPr>
        <p:spPr>
          <a:xfrm>
            <a:off x="3931920" y="1307592"/>
            <a:ext cx="7269480" cy="3931920"/>
          </a:xfrm>
          <a:prstGeom prst="rect">
            <a:avLst/>
          </a:prstGeom>
          <a:noFill/>
          <a:ln/>
        </p:spPr>
        <p:txBody>
          <a:bodyPr wrap="square" lIns="635" tIns="635" rIns="635" bIns="635" rtlCol="0" anchor="ctr">
            <a:normAutofit/>
          </a:bodyPr>
          <a:lstStyle/>
          <a:p>
            <a:pPr marL="0" indent="0" algn="ctr">
              <a:buNone/>
            </a:pPr>
            <a:r>
              <a:rPr lang="en-US" sz="1500" b="1" dirty="0">
                <a:solidFill>
                  <a:srgbClr val="667085"/>
                </a:solidFill>
              </a:rPr>
              <a:t>ADD FIGURE</a:t>
            </a:r>
            <a:endParaRPr lang="en-US" sz="1500" dirty="0"/>
          </a:p>
          <a:p>
            <a:pPr marL="0" indent="0" algn="ctr">
              <a:buNone/>
            </a:pPr>
            <a:r>
              <a:rPr lang="en-US" sz="1500" b="1" dirty="0">
                <a:solidFill>
                  <a:srgbClr val="667085"/>
                </a:solidFill>
              </a:rPr>
              <a:t>HF_kernel_vertical_profile_sigma8_FINAL.png</a:t>
            </a:r>
            <a:endParaRPr lang="en-US" sz="1500" dirty="0"/>
          </a:p>
        </p:txBody>
      </p:sp>
      <p:sp>
        <p:nvSpPr>
          <p:cNvPr id="10" name="Text 8"/>
          <p:cNvSpPr/>
          <p:nvPr/>
        </p:nvSpPr>
        <p:spPr>
          <a:xfrm>
            <a:off x="4089110" y="5775089"/>
            <a:ext cx="7542928" cy="550381"/>
          </a:xfrm>
          <a:prstGeom prst="rect">
            <a:avLst/>
          </a:prstGeom>
          <a:noFill/>
          <a:ln/>
        </p:spPr>
        <p:txBody>
          <a:bodyPr wrap="square" lIns="254" tIns="254" rIns="254" bIns="254" rtlCol="0" anchor="ctr">
            <a:noAutofit/>
          </a:bodyPr>
          <a:lstStyle/>
          <a:p>
            <a:pPr marL="0" indent="0" algn="ctr">
              <a:buNone/>
            </a:pPr>
            <a:r>
              <a:rPr lang="en-US" sz="1200" i="1" dirty="0"/>
              <a:t>Normalized vertical HF-kernel profile. Tested margins: 16, 32, 64, 128 </a:t>
            </a:r>
            <a:r>
              <a:rPr lang="en-US" sz="1200" i="1" dirty="0" err="1"/>
              <a:t>px</a:t>
            </a:r>
            <a:r>
              <a:rPr lang="en-US" sz="1200" i="1" dirty="0"/>
              <a:t>. HF RMSE: 0.828 → 0.322 → 0.150 → 0.0225.</a:t>
            </a:r>
            <a:endParaRPr lang="en-US" sz="1200"/>
          </a:p>
        </p:txBody>
      </p:sp>
      <p:sp>
        <p:nvSpPr>
          <p:cNvPr id="25" name="Slide Number Placeholder 0"/>
          <p:cNvSpPr>
            <a:spLocks noGrp="1"/>
          </p:cNvSpPr>
          <p:nvPr>
            <p:ph type="sldNum" sz="quarter" idx="4294967295"/>
          </p:nvPr>
        </p:nvSpPr>
        <p:spPr>
          <a:xfrm>
            <a:off x="11722608" y="6556248"/>
            <a:ext cx="22860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6B7280"/>
                </a:solidFill>
              </a:defRPr>
            </a:lvl1pPr>
          </a:lstStyle>
          <a:p>
            <a:pPr algn="l"/>
            <a:fld id="{F7021451-1387-4CA6-816F-3879F97B5CBC}" type="slidenum">
              <a:rPr lang="en-US" b="0"/>
              <a:t>8</a:t>
            </a:fld>
            <a:endParaRPr lang="en-US"/>
          </a:p>
        </p:txBody>
      </p:sp>
      <p:pic>
        <p:nvPicPr>
          <p:cNvPr id="26" name="Picture 25" descr="s8.png"/>
          <p:cNvPicPr>
            <a:picLocks noChangeAspect="1"/>
          </p:cNvPicPr>
          <p:nvPr/>
        </p:nvPicPr>
        <p:blipFill>
          <a:blip r:embed="rId3"/>
          <a:stretch>
            <a:fillRect/>
          </a:stretch>
        </p:blipFill>
        <p:spPr>
          <a:xfrm>
            <a:off x="-375775" y="1050688"/>
            <a:ext cx="5024845" cy="871729"/>
          </a:xfrm>
          <a:prstGeom prst="rect">
            <a:avLst/>
          </a:prstGeom>
        </p:spPr>
      </p:pic>
      <p:sp>
        <p:nvSpPr>
          <p:cNvPr id="27" name="TextBox 26"/>
          <p:cNvSpPr txBox="1"/>
          <p:nvPr/>
        </p:nvSpPr>
        <p:spPr>
          <a:xfrm>
            <a:off x="640951" y="1926336"/>
            <a:ext cx="2788920" cy="697627"/>
          </a:xfrm>
          <a:prstGeom prst="rect">
            <a:avLst/>
          </a:prstGeom>
          <a:noFill/>
        </p:spPr>
        <p:txBody>
          <a:bodyPr wrap="square" lIns="91440" tIns="45720" rIns="91440" bIns="45720" anchor="t">
            <a:spAutoFit/>
          </a:bodyPr>
          <a:lstStyle/>
          <a:p>
            <a:pPr>
              <a:spcAft>
                <a:spcPts val="200"/>
              </a:spcAft>
              <a:defRPr sz="1010">
                <a:solidFill>
                  <a:srgbClr val="5A646E"/>
                </a:solidFill>
                <a:latin typeface="Aptos"/>
              </a:defRPr>
            </a:pPr>
            <a:r>
              <a:rPr sz="1200" dirty="0"/>
              <a:t>Q_HF: local high-</a:t>
            </a:r>
            <a:r>
              <a:rPr sz="1200" dirty="0" err="1"/>
              <a:t>frequency</a:t>
            </a:r>
            <a:r>
              <a:rPr sz="1200" dirty="0"/>
              <a:t> correction </a:t>
            </a:r>
            <a:endParaRPr lang="fr-FR" sz="1200"/>
          </a:p>
          <a:p>
            <a:pPr>
              <a:spcAft>
                <a:spcPts val="200"/>
              </a:spcAft>
              <a:defRPr sz="1010">
                <a:solidFill>
                  <a:srgbClr val="5A646E"/>
                </a:solidFill>
                <a:latin typeface="Aptos"/>
              </a:defRPr>
            </a:pPr>
            <a:r>
              <a:rPr sz="1200" dirty="0"/>
              <a:t>Q: total correction </a:t>
            </a:r>
            <a:endParaRPr lang="fr-FR" sz="1200"/>
          </a:p>
          <a:p>
            <a:pPr>
              <a:spcAft>
                <a:spcPts val="200"/>
              </a:spcAft>
              <a:defRPr sz="1010">
                <a:solidFill>
                  <a:srgbClr val="5A646E"/>
                </a:solidFill>
                <a:latin typeface="Aptos"/>
              </a:defRPr>
            </a:pPr>
            <a:r>
              <a:rPr sz="1200"/>
              <a:t>Q_LF: smooth low-</a:t>
            </a:r>
            <a:r>
              <a:rPr sz="1200" dirty="0"/>
              <a:t>frequency correction</a:t>
            </a:r>
          </a:p>
        </p:txBody>
      </p:sp>
      <p:pic>
        <p:nvPicPr>
          <p:cNvPr id="5" name="Image 4">
            <a:extLst>
              <a:ext uri="{FF2B5EF4-FFF2-40B4-BE49-F238E27FC236}">
                <a16:creationId xmlns:a16="http://schemas.microsoft.com/office/drawing/2014/main" id="{3830F093-DD24-B58F-8169-C840D2D31A76}"/>
              </a:ext>
            </a:extLst>
          </p:cNvPr>
          <p:cNvPicPr>
            <a:picLocks noChangeAspect="1"/>
          </p:cNvPicPr>
          <p:nvPr/>
        </p:nvPicPr>
        <p:blipFill>
          <a:blip r:embed="rId4"/>
          <a:srcRect l="7520" t="10974" r="13407" b="13438"/>
          <a:stretch>
            <a:fillRect/>
          </a:stretch>
        </p:blipFill>
        <p:spPr>
          <a:xfrm>
            <a:off x="3669838" y="1111823"/>
            <a:ext cx="8386336" cy="478104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347472"/>
            <a:ext cx="10972800" cy="411480"/>
          </a:xfrm>
          <a:prstGeom prst="rect">
            <a:avLst/>
          </a:prstGeom>
          <a:noFill/>
          <a:ln/>
        </p:spPr>
        <p:txBody>
          <a:bodyPr wrap="square" lIns="0" tIns="0" rIns="0" bIns="0" rtlCol="0" anchor="ctr"/>
          <a:lstStyle/>
          <a:p>
            <a:pPr marL="0" indent="0">
              <a:buNone/>
            </a:pPr>
            <a:r>
              <a:rPr lang="en-US" sz="2400" b="1" dirty="0">
                <a:solidFill>
                  <a:srgbClr val="263B66"/>
                </a:solidFill>
              </a:rPr>
              <a:t>Combine both approximations</a:t>
            </a:r>
            <a:endParaRPr lang="en-US" sz="2400" dirty="0"/>
          </a:p>
        </p:txBody>
      </p:sp>
      <p:sp>
        <p:nvSpPr>
          <p:cNvPr id="3" name="Text 1"/>
          <p:cNvSpPr/>
          <p:nvPr/>
        </p:nvSpPr>
        <p:spPr>
          <a:xfrm>
            <a:off x="612648" y="804672"/>
            <a:ext cx="10881360" cy="256032"/>
          </a:xfrm>
          <a:prstGeom prst="rect">
            <a:avLst/>
          </a:prstGeom>
          <a:noFill/>
          <a:ln/>
        </p:spPr>
        <p:txBody>
          <a:bodyPr wrap="square" lIns="0" tIns="0" rIns="0" bIns="0" rtlCol="0" anchor="ctr"/>
          <a:lstStyle/>
          <a:p>
            <a:pPr marL="0" indent="0">
              <a:buNone/>
            </a:pPr>
            <a:r>
              <a:rPr lang="en-US" dirty="0"/>
              <a:t>Global low frequency + local high frequency</a:t>
            </a:r>
            <a:endParaRPr lang="en-US"/>
          </a:p>
        </p:txBody>
      </p:sp>
      <p:sp>
        <p:nvSpPr>
          <p:cNvPr id="4" name="Shape 2"/>
          <p:cNvSpPr/>
          <p:nvPr/>
        </p:nvSpPr>
        <p:spPr>
          <a:xfrm>
            <a:off x="685800" y="1097280"/>
            <a:ext cx="4023360" cy="594360"/>
          </a:xfrm>
          <a:prstGeom prst="roundRect">
            <a:avLst>
              <a:gd name="adj" fmla="val 12308"/>
            </a:avLst>
          </a:prstGeom>
          <a:solidFill>
            <a:srgbClr val="FFFFFF"/>
          </a:solidFill>
          <a:ln w="12700">
            <a:solidFill>
              <a:srgbClr val="C9D3E2"/>
            </a:solidFill>
            <a:prstDash val="solid"/>
          </a:ln>
        </p:spPr>
        <p:txBody>
          <a:bodyPr/>
          <a:lstStyle/>
          <a:p>
            <a:endParaRPr/>
          </a:p>
        </p:txBody>
      </p:sp>
      <p:sp>
        <p:nvSpPr>
          <p:cNvPr id="6" name="Shape 4"/>
          <p:cNvSpPr/>
          <p:nvPr/>
        </p:nvSpPr>
        <p:spPr>
          <a:xfrm>
            <a:off x="685800" y="1828800"/>
            <a:ext cx="4023360" cy="594360"/>
          </a:xfrm>
          <a:prstGeom prst="roundRect">
            <a:avLst>
              <a:gd name="adj" fmla="val 12308"/>
            </a:avLst>
          </a:prstGeom>
          <a:solidFill>
            <a:srgbClr val="FFFFFF"/>
          </a:solidFill>
          <a:ln w="12700">
            <a:solidFill>
              <a:srgbClr val="C9D3E2"/>
            </a:solidFill>
            <a:prstDash val="solid"/>
          </a:ln>
        </p:spPr>
        <p:txBody>
          <a:bodyPr/>
          <a:lstStyle/>
          <a:p>
            <a:endParaRPr/>
          </a:p>
        </p:txBody>
      </p:sp>
      <p:sp>
        <p:nvSpPr>
          <p:cNvPr id="8" name="Shape 6"/>
          <p:cNvSpPr/>
          <p:nvPr/>
        </p:nvSpPr>
        <p:spPr>
          <a:xfrm>
            <a:off x="731520" y="4038600"/>
            <a:ext cx="3931920" cy="1554480"/>
          </a:xfrm>
          <a:prstGeom prst="roundRect">
            <a:avLst>
              <a:gd name="adj" fmla="val 4706"/>
            </a:avLst>
          </a:prstGeom>
          <a:solidFill>
            <a:srgbClr val="E9EFF7"/>
          </a:solidFill>
          <a:ln w="12700">
            <a:solidFill>
              <a:srgbClr val="C9D3E2"/>
            </a:solidFill>
            <a:prstDash val="solid"/>
          </a:ln>
        </p:spPr>
        <p:txBody>
          <a:bodyPr/>
          <a:lstStyle/>
          <a:p>
            <a:endParaRPr/>
          </a:p>
        </p:txBody>
      </p:sp>
      <p:sp>
        <p:nvSpPr>
          <p:cNvPr id="9" name="Text 7"/>
          <p:cNvSpPr/>
          <p:nvPr/>
        </p:nvSpPr>
        <p:spPr>
          <a:xfrm>
            <a:off x="1018903" y="4241074"/>
            <a:ext cx="3291840" cy="1143000"/>
          </a:xfrm>
          <a:prstGeom prst="rect">
            <a:avLst/>
          </a:prstGeom>
          <a:noFill/>
          <a:ln/>
        </p:spPr>
        <p:txBody>
          <a:bodyPr wrap="square" lIns="508" tIns="508" rIns="508" bIns="508" rtlCol="0" anchor="ctr">
            <a:normAutofit/>
          </a:bodyPr>
          <a:lstStyle/>
          <a:p>
            <a:pPr marL="177800" indent="-177800">
              <a:buSzPct val="100000"/>
              <a:buChar char="•"/>
            </a:pPr>
            <a:r>
              <a:rPr lang="en-US" sz="1500" dirty="0">
                <a:solidFill>
                  <a:srgbClr val="1F2937"/>
                </a:solidFill>
              </a:rPr>
              <a:t>σ = 8</a:t>
            </a:r>
            <a:endParaRPr lang="en-US" sz="1500" dirty="0"/>
          </a:p>
          <a:p>
            <a:pPr marL="177800" indent="-177800">
              <a:buSzPct val="100000"/>
              <a:buChar char="•"/>
            </a:pPr>
            <a:r>
              <a:rPr lang="en-US" sz="1500" dirty="0">
                <a:solidFill>
                  <a:srgbClr val="1F2937"/>
                </a:solidFill>
              </a:rPr>
              <a:t>spatial bin = 4</a:t>
            </a:r>
            <a:endParaRPr lang="en-US" sz="1500" dirty="0"/>
          </a:p>
          <a:p>
            <a:pPr marL="177800" indent="-177800">
              <a:buSzPct val="100000"/>
              <a:buChar char="•"/>
            </a:pPr>
            <a:r>
              <a:rPr lang="en-US" sz="1500" dirty="0">
                <a:solidFill>
                  <a:srgbClr val="1F2937"/>
                </a:solidFill>
              </a:rPr>
              <a:t>angular bin = 4</a:t>
            </a:r>
            <a:endParaRPr lang="en-US" sz="1500" dirty="0"/>
          </a:p>
          <a:p>
            <a:pPr marL="177800" indent="-177800">
              <a:buSzPct val="100000"/>
              <a:buChar char="•"/>
            </a:pPr>
            <a:r>
              <a:rPr lang="en-US" sz="1500" dirty="0">
                <a:solidFill>
                  <a:srgbClr val="1F2937"/>
                </a:solidFill>
              </a:rPr>
              <a:t>HF margin = 64 px</a:t>
            </a:r>
            <a:endParaRPr lang="en-US" sz="1500" dirty="0"/>
          </a:p>
        </p:txBody>
      </p:sp>
      <p:sp>
        <p:nvSpPr>
          <p:cNvPr id="11" name="Text 9"/>
          <p:cNvSpPr/>
          <p:nvPr/>
        </p:nvSpPr>
        <p:spPr>
          <a:xfrm>
            <a:off x="5120640" y="1261872"/>
            <a:ext cx="6126480" cy="3977640"/>
          </a:xfrm>
          <a:prstGeom prst="rect">
            <a:avLst/>
          </a:prstGeom>
          <a:noFill/>
          <a:ln/>
        </p:spPr>
        <p:txBody>
          <a:bodyPr wrap="square" lIns="635" tIns="635" rIns="635" bIns="635" rtlCol="0" anchor="ctr">
            <a:normAutofit/>
          </a:bodyPr>
          <a:lstStyle/>
          <a:p>
            <a:pPr marL="0" indent="0" algn="ctr">
              <a:buNone/>
            </a:pPr>
            <a:r>
              <a:rPr lang="en-US" sz="1500" b="1" dirty="0">
                <a:solidFill>
                  <a:srgbClr val="667085"/>
                </a:solidFill>
              </a:rPr>
              <a:t>ADD FIGURE</a:t>
            </a:r>
            <a:endParaRPr lang="en-US" sz="1500" dirty="0"/>
          </a:p>
          <a:p>
            <a:pPr marL="0" indent="0" algn="ctr">
              <a:buNone/>
            </a:pPr>
            <a:r>
              <a:rPr lang="en-US" sz="1500" b="1" dirty="0">
                <a:solidFill>
                  <a:srgbClr val="667085"/>
                </a:solidFill>
              </a:rPr>
              <a:t>FINAL_pipeline_multiscale_margin64.png</a:t>
            </a:r>
            <a:endParaRPr lang="en-US" sz="1500" dirty="0"/>
          </a:p>
        </p:txBody>
      </p:sp>
      <p:sp>
        <p:nvSpPr>
          <p:cNvPr id="12" name="Text 10"/>
          <p:cNvSpPr/>
          <p:nvPr/>
        </p:nvSpPr>
        <p:spPr>
          <a:xfrm>
            <a:off x="4918602" y="5132832"/>
            <a:ext cx="6922442" cy="463296"/>
          </a:xfrm>
          <a:prstGeom prst="rect">
            <a:avLst/>
          </a:prstGeom>
          <a:noFill/>
          <a:ln/>
        </p:spPr>
        <p:txBody>
          <a:bodyPr wrap="square" lIns="254" tIns="254" rIns="254" bIns="254" rtlCol="0" anchor="ctr">
            <a:noAutofit/>
          </a:bodyPr>
          <a:lstStyle/>
          <a:p>
            <a:pPr algn="ctr"/>
            <a:r>
              <a:rPr lang="en-US" sz="1100">
                <a:ea typeface="+mn-lt"/>
                <a:cs typeface="+mn-lt"/>
              </a:rPr>
              <a:t>Combined multi-scale correction: spatially and angularly interpolated low-frequency contribution combined with a local high-frequency correction using a 64-pixel margin. The final residual is shown relative to the full-reference correction.</a:t>
            </a:r>
            <a:endParaRPr lang="fr-FR" sz="1100">
              <a:ea typeface="+mn-lt"/>
              <a:cs typeface="+mn-lt"/>
            </a:endParaRPr>
          </a:p>
        </p:txBody>
      </p:sp>
      <p:sp>
        <p:nvSpPr>
          <p:cNvPr id="25" name="Slide Number Placeholder 0"/>
          <p:cNvSpPr>
            <a:spLocks noGrp="1"/>
          </p:cNvSpPr>
          <p:nvPr>
            <p:ph type="sldNum" sz="quarter" idx="4294967295"/>
          </p:nvPr>
        </p:nvSpPr>
        <p:spPr>
          <a:xfrm>
            <a:off x="11722608" y="6556248"/>
            <a:ext cx="22860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6B7280"/>
                </a:solidFill>
              </a:defRPr>
            </a:lvl1pPr>
          </a:lstStyle>
          <a:p>
            <a:pPr algn="l"/>
            <a:fld id="{F7021451-1387-4CA6-816F-3879F97B5CBC}" type="slidenum">
              <a:rPr lang="en-US" b="0"/>
              <a:t>9</a:t>
            </a:fld>
            <a:endParaRPr lang="en-US"/>
          </a:p>
        </p:txBody>
      </p:sp>
      <p:pic>
        <p:nvPicPr>
          <p:cNvPr id="26" name="Picture 25" descr="s9a.png"/>
          <p:cNvPicPr>
            <a:picLocks noChangeAspect="1"/>
          </p:cNvPicPr>
          <p:nvPr/>
        </p:nvPicPr>
        <p:blipFill>
          <a:blip r:embed="rId3"/>
          <a:stretch>
            <a:fillRect/>
          </a:stretch>
        </p:blipFill>
        <p:spPr>
          <a:xfrm>
            <a:off x="-717586" y="926591"/>
            <a:ext cx="6766560" cy="931817"/>
          </a:xfrm>
          <a:prstGeom prst="rect">
            <a:avLst/>
          </a:prstGeom>
        </p:spPr>
      </p:pic>
      <p:pic>
        <p:nvPicPr>
          <p:cNvPr id="27" name="Picture 26" descr="s9b.png"/>
          <p:cNvPicPr>
            <a:picLocks noChangeAspect="1"/>
          </p:cNvPicPr>
          <p:nvPr/>
        </p:nvPicPr>
        <p:blipFill>
          <a:blip r:embed="rId4"/>
          <a:stretch>
            <a:fillRect/>
          </a:stretch>
        </p:blipFill>
        <p:spPr>
          <a:xfrm>
            <a:off x="-935300" y="1599329"/>
            <a:ext cx="7256417" cy="1062446"/>
          </a:xfrm>
          <a:prstGeom prst="rect">
            <a:avLst/>
          </a:prstGeom>
        </p:spPr>
      </p:pic>
      <p:sp>
        <p:nvSpPr>
          <p:cNvPr id="28" name="TextBox 27"/>
          <p:cNvSpPr txBox="1"/>
          <p:nvPr/>
        </p:nvSpPr>
        <p:spPr>
          <a:xfrm>
            <a:off x="614825" y="2815917"/>
            <a:ext cx="4160520" cy="697627"/>
          </a:xfrm>
          <a:prstGeom prst="rect">
            <a:avLst/>
          </a:prstGeom>
          <a:noFill/>
        </p:spPr>
        <p:txBody>
          <a:bodyPr wrap="square" lIns="91440" tIns="45720" rIns="91440" bIns="45720" anchor="t">
            <a:spAutoFit/>
          </a:bodyPr>
          <a:lstStyle/>
          <a:p>
            <a:pPr>
              <a:spcAft>
                <a:spcPts val="200"/>
              </a:spcAft>
              <a:defRPr sz="980">
                <a:solidFill>
                  <a:srgbClr val="5A646E"/>
                </a:solidFill>
                <a:latin typeface="Aptos"/>
              </a:defRPr>
            </a:pPr>
            <a:r>
              <a:rPr sz="1200" dirty="0" err="1"/>
              <a:t>Q_LF,pred</a:t>
            </a:r>
            <a:r>
              <a:rPr sz="1200" dirty="0"/>
              <a:t>: </a:t>
            </a:r>
            <a:r>
              <a:rPr sz="1200" dirty="0" err="1"/>
              <a:t>binned</a:t>
            </a:r>
            <a:r>
              <a:rPr sz="1200" dirty="0"/>
              <a:t> + </a:t>
            </a:r>
            <a:r>
              <a:rPr sz="1200" dirty="0" err="1"/>
              <a:t>angularly</a:t>
            </a:r>
            <a:r>
              <a:rPr sz="1200" dirty="0"/>
              <a:t> </a:t>
            </a:r>
            <a:r>
              <a:rPr sz="1200" dirty="0" err="1"/>
              <a:t>interpolated</a:t>
            </a:r>
            <a:r>
              <a:rPr sz="1200" dirty="0"/>
              <a:t> LF </a:t>
            </a:r>
            <a:r>
              <a:rPr lang="fr-FR" sz="1200" dirty="0" err="1"/>
              <a:t>term</a:t>
            </a:r>
            <a:endParaRPr lang="fr-FR" sz="1200" dirty="0"/>
          </a:p>
          <a:p>
            <a:pPr>
              <a:spcAft>
                <a:spcPts val="200"/>
              </a:spcAft>
              <a:defRPr sz="980">
                <a:solidFill>
                  <a:srgbClr val="5A646E"/>
                </a:solidFill>
                <a:latin typeface="Aptos"/>
              </a:defRPr>
            </a:pPr>
            <a:r>
              <a:rPr lang="fr-FR" sz="1200" dirty="0"/>
              <a:t>Q</a:t>
            </a:r>
            <a:r>
              <a:rPr sz="1200" dirty="0"/>
              <a:t>_</a:t>
            </a:r>
            <a:r>
              <a:rPr sz="1200" dirty="0" err="1"/>
              <a:t>HF,local</a:t>
            </a:r>
            <a:r>
              <a:rPr sz="1200" dirty="0"/>
              <a:t>: HF term computed on the local band</a:t>
            </a:r>
          </a:p>
          <a:p>
            <a:pPr>
              <a:spcAft>
                <a:spcPts val="200"/>
              </a:spcAft>
              <a:defRPr sz="980">
                <a:solidFill>
                  <a:srgbClr val="5A646E"/>
                </a:solidFill>
                <a:latin typeface="Aptos"/>
              </a:defRPr>
            </a:pPr>
            <a:r>
              <a:rPr sz="1200" dirty="0" err="1"/>
              <a:t>I_corr,approx</a:t>
            </a:r>
            <a:r>
              <a:rPr sz="1200" dirty="0"/>
              <a:t>: final approximate corrected projection</a:t>
            </a:r>
          </a:p>
        </p:txBody>
      </p:sp>
      <p:pic>
        <p:nvPicPr>
          <p:cNvPr id="5" name="Image 4">
            <a:extLst>
              <a:ext uri="{FF2B5EF4-FFF2-40B4-BE49-F238E27FC236}">
                <a16:creationId xmlns:a16="http://schemas.microsoft.com/office/drawing/2014/main" id="{F651B976-3F9D-D397-82C7-24B67AC23F49}"/>
              </a:ext>
            </a:extLst>
          </p:cNvPr>
          <p:cNvPicPr>
            <a:picLocks noChangeAspect="1"/>
          </p:cNvPicPr>
          <p:nvPr/>
        </p:nvPicPr>
        <p:blipFill>
          <a:blip r:embed="rId5"/>
          <a:srcRect l="10725" t="18390" r="3068" b="11577"/>
          <a:stretch>
            <a:fillRect/>
          </a:stretch>
        </p:blipFill>
        <p:spPr>
          <a:xfrm>
            <a:off x="4913315" y="1261157"/>
            <a:ext cx="6917802" cy="349660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347472"/>
            <a:ext cx="10972800" cy="411480"/>
          </a:xfrm>
          <a:prstGeom prst="rect">
            <a:avLst/>
          </a:prstGeom>
          <a:noFill/>
          <a:ln/>
        </p:spPr>
        <p:txBody>
          <a:bodyPr wrap="square" lIns="0" tIns="0" rIns="0" bIns="0" rtlCol="0" anchor="ctr"/>
          <a:lstStyle/>
          <a:p>
            <a:pPr marL="0" indent="0">
              <a:buNone/>
            </a:pPr>
            <a:r>
              <a:rPr lang="en-US" sz="2400" b="1" dirty="0">
                <a:solidFill>
                  <a:srgbClr val="263B66"/>
                </a:solidFill>
              </a:rPr>
              <a:t>Where is the remaining error?</a:t>
            </a:r>
            <a:endParaRPr lang="en-US" sz="2400" dirty="0"/>
          </a:p>
        </p:txBody>
      </p:sp>
      <p:sp>
        <p:nvSpPr>
          <p:cNvPr id="3" name="Text 1"/>
          <p:cNvSpPr/>
          <p:nvPr/>
        </p:nvSpPr>
        <p:spPr>
          <a:xfrm>
            <a:off x="612648" y="804672"/>
            <a:ext cx="10881360" cy="256032"/>
          </a:xfrm>
          <a:prstGeom prst="rect">
            <a:avLst/>
          </a:prstGeom>
          <a:noFill/>
          <a:ln/>
        </p:spPr>
        <p:txBody>
          <a:bodyPr wrap="square" lIns="0" tIns="0" rIns="0" bIns="0" rtlCol="0" anchor="ctr"/>
          <a:lstStyle/>
          <a:p>
            <a:pPr marL="0" indent="0">
              <a:buNone/>
            </a:pPr>
            <a:r>
              <a:rPr lang="en-US" dirty="0"/>
              <a:t>Once HF is sufficiently </a:t>
            </a:r>
            <a:r>
              <a:rPr lang="en-US" dirty="0" err="1"/>
              <a:t>localised</a:t>
            </a:r>
            <a:r>
              <a:rPr lang="en-US" dirty="0"/>
              <a:t>, the bottleneck shifts to the LF approximation</a:t>
            </a:r>
            <a:endParaRPr lang="en-US"/>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1325880"/>
          <a:ext cx="4069080" cy="3017520"/>
        </p:xfrm>
        <a:graphic>
          <a:graphicData uri="http://schemas.openxmlformats.org/drawingml/2006/table">
            <a:tbl>
              <a:tblPr/>
              <a:tblGrid>
                <a:gridCol w="146304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502920">
                <a:tc>
                  <a:txBody>
                    <a:bodyPr/>
                    <a:lstStyle/>
                    <a:p>
                      <a:pPr marL="0" indent="0">
                        <a:buNone/>
                      </a:pPr>
                      <a:r>
                        <a:rPr lang="en-US" sz="1400" dirty="0">
                          <a:solidFill>
                            <a:srgbClr val="1F2937"/>
                          </a:solidFill>
                        </a:rPr>
                        <a:t>HF margin</a:t>
                      </a:r>
                      <a:endParaRPr lang="en-US" sz="1400" dirty="0"/>
                    </a:p>
                  </a:txBody>
                  <a:tcPr marL="54864" marR="54864" marT="54864" marB="54864">
                    <a:lnL w="12700" cap="flat" cmpd="sng" algn="ctr">
                      <a:solidFill>
                        <a:srgbClr val="C9D3E2"/>
                      </a:solidFill>
                      <a:prstDash val="solid"/>
                      <a:round/>
                      <a:headEnd type="none" w="med" len="med"/>
                      <a:tailEnd type="none" w="med" len="med"/>
                    </a:lnL>
                    <a:lnR w="12700" cap="flat" cmpd="sng" algn="ctr">
                      <a:solidFill>
                        <a:srgbClr val="C9D3E2"/>
                      </a:solidFill>
                      <a:prstDash val="solid"/>
                      <a:round/>
                      <a:headEnd type="none" w="med" len="med"/>
                      <a:tailEnd type="none" w="med" len="med"/>
                    </a:lnR>
                    <a:lnT w="12700" cap="flat" cmpd="sng" algn="ctr">
                      <a:solidFill>
                        <a:srgbClr val="C9D3E2"/>
                      </a:solidFill>
                      <a:prstDash val="solid"/>
                      <a:round/>
                      <a:headEnd type="none" w="med" len="med"/>
                      <a:tailEnd type="none" w="med" len="med"/>
                    </a:lnT>
                    <a:lnB w="12700" cap="flat" cmpd="sng" algn="ctr">
                      <a:solidFill>
                        <a:srgbClr val="C9D3E2"/>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HF RMSE</a:t>
                      </a:r>
                      <a:endParaRPr lang="en-US" sz="1400" dirty="0"/>
                    </a:p>
                  </a:txBody>
                  <a:tcPr marL="54864" marR="54864" marT="54864" marB="54864">
                    <a:lnL w="12700" cap="flat" cmpd="sng" algn="ctr">
                      <a:solidFill>
                        <a:srgbClr val="C9D3E2"/>
                      </a:solidFill>
                      <a:prstDash val="solid"/>
                      <a:round/>
                      <a:headEnd type="none" w="med" len="med"/>
                      <a:tailEnd type="none" w="med" len="med"/>
                    </a:lnL>
                    <a:lnR w="12700" cap="flat" cmpd="sng" algn="ctr">
                      <a:solidFill>
                        <a:srgbClr val="C9D3E2"/>
                      </a:solidFill>
                      <a:prstDash val="solid"/>
                      <a:round/>
                      <a:headEnd type="none" w="med" len="med"/>
                      <a:tailEnd type="none" w="med" len="med"/>
                    </a:lnR>
                    <a:lnT w="12700" cap="flat" cmpd="sng" algn="ctr">
                      <a:solidFill>
                        <a:srgbClr val="C9D3E2"/>
                      </a:solidFill>
                      <a:prstDash val="solid"/>
                      <a:round/>
                      <a:headEnd type="none" w="med" len="med"/>
                      <a:tailEnd type="none" w="med" len="med"/>
                    </a:lnT>
                    <a:lnB w="12700" cap="flat" cmpd="sng" algn="ctr">
                      <a:solidFill>
                        <a:srgbClr val="C9D3E2"/>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Final RMSE</a:t>
                      </a:r>
                      <a:endParaRPr lang="en-US" sz="1400" dirty="0"/>
                    </a:p>
                  </a:txBody>
                  <a:tcPr marL="54864" marR="54864" marT="54864" marB="54864">
                    <a:lnL w="12700" cap="flat" cmpd="sng" algn="ctr">
                      <a:solidFill>
                        <a:srgbClr val="C9D3E2"/>
                      </a:solidFill>
                      <a:prstDash val="solid"/>
                      <a:round/>
                      <a:headEnd type="none" w="med" len="med"/>
                      <a:tailEnd type="none" w="med" len="med"/>
                    </a:lnL>
                    <a:lnR w="12700" cap="flat" cmpd="sng" algn="ctr">
                      <a:solidFill>
                        <a:srgbClr val="C9D3E2"/>
                      </a:solidFill>
                      <a:prstDash val="solid"/>
                      <a:round/>
                      <a:headEnd type="none" w="med" len="med"/>
                      <a:tailEnd type="none" w="med" len="med"/>
                    </a:lnR>
                    <a:lnT w="12700" cap="flat" cmpd="sng" algn="ctr">
                      <a:solidFill>
                        <a:srgbClr val="C9D3E2"/>
                      </a:solidFill>
                      <a:prstDash val="solid"/>
                      <a:round/>
                      <a:headEnd type="none" w="med" len="med"/>
                      <a:tailEnd type="none" w="med" len="med"/>
                    </a:lnT>
                    <a:lnB w="12700" cap="flat" cmpd="sng" algn="ctr">
                      <a:solidFill>
                        <a:srgbClr val="C9D3E2"/>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02920">
                <a:tc>
                  <a:txBody>
                    <a:bodyPr/>
                    <a:lstStyle/>
                    <a:p>
                      <a:pPr marL="0" indent="0">
                        <a:buNone/>
                      </a:pPr>
                      <a:r>
                        <a:rPr lang="en-US" sz="1400" dirty="0">
                          <a:solidFill>
                            <a:srgbClr val="1F2937"/>
                          </a:solidFill>
                        </a:rPr>
                        <a:t>16 px</a:t>
                      </a:r>
                      <a:endParaRPr lang="en-US" sz="1400" dirty="0"/>
                    </a:p>
                  </a:txBody>
                  <a:tcPr marL="54864" marR="54864" marT="54864" marB="54864">
                    <a:lnL w="12700" cap="flat" cmpd="sng" algn="ctr">
                      <a:solidFill>
                        <a:srgbClr val="C9D3E2"/>
                      </a:solidFill>
                      <a:prstDash val="solid"/>
                      <a:round/>
                      <a:headEnd type="none" w="med" len="med"/>
                      <a:tailEnd type="none" w="med" len="med"/>
                    </a:lnL>
                    <a:lnR w="12700" cap="flat" cmpd="sng" algn="ctr">
                      <a:solidFill>
                        <a:srgbClr val="C9D3E2"/>
                      </a:solidFill>
                      <a:prstDash val="solid"/>
                      <a:round/>
                      <a:headEnd type="none" w="med" len="med"/>
                      <a:tailEnd type="none" w="med" len="med"/>
                    </a:lnR>
                    <a:lnT w="12700" cap="flat" cmpd="sng" algn="ctr">
                      <a:solidFill>
                        <a:srgbClr val="C9D3E2"/>
                      </a:solidFill>
                      <a:prstDash val="solid"/>
                      <a:round/>
                      <a:headEnd type="none" w="med" len="med"/>
                      <a:tailEnd type="none" w="med" len="med"/>
                    </a:lnT>
                    <a:lnB w="12700" cap="flat" cmpd="sng" algn="ctr">
                      <a:solidFill>
                        <a:srgbClr val="C9D3E2"/>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0.828</a:t>
                      </a:r>
                      <a:endParaRPr lang="en-US" sz="1400" dirty="0"/>
                    </a:p>
                  </a:txBody>
                  <a:tcPr marL="54864" marR="54864" marT="54864" marB="54864">
                    <a:lnL w="12700" cap="flat" cmpd="sng" algn="ctr">
                      <a:solidFill>
                        <a:srgbClr val="C9D3E2"/>
                      </a:solidFill>
                      <a:prstDash val="solid"/>
                      <a:round/>
                      <a:headEnd type="none" w="med" len="med"/>
                      <a:tailEnd type="none" w="med" len="med"/>
                    </a:lnL>
                    <a:lnR w="12700" cap="flat" cmpd="sng" algn="ctr">
                      <a:solidFill>
                        <a:srgbClr val="C9D3E2"/>
                      </a:solidFill>
                      <a:prstDash val="solid"/>
                      <a:round/>
                      <a:headEnd type="none" w="med" len="med"/>
                      <a:tailEnd type="none" w="med" len="med"/>
                    </a:lnR>
                    <a:lnT w="12700" cap="flat" cmpd="sng" algn="ctr">
                      <a:solidFill>
                        <a:srgbClr val="C9D3E2"/>
                      </a:solidFill>
                      <a:prstDash val="solid"/>
                      <a:round/>
                      <a:headEnd type="none" w="med" len="med"/>
                      <a:tailEnd type="none" w="med" len="med"/>
                    </a:lnT>
                    <a:lnB w="12700" cap="flat" cmpd="sng" algn="ctr">
                      <a:solidFill>
                        <a:srgbClr val="C9D3E2"/>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2.349</a:t>
                      </a:r>
                      <a:endParaRPr lang="en-US" sz="1400" dirty="0"/>
                    </a:p>
                  </a:txBody>
                  <a:tcPr marL="54864" marR="54864" marT="54864" marB="54864">
                    <a:lnL w="12700" cap="flat" cmpd="sng" algn="ctr">
                      <a:solidFill>
                        <a:srgbClr val="C9D3E2"/>
                      </a:solidFill>
                      <a:prstDash val="solid"/>
                      <a:round/>
                      <a:headEnd type="none" w="med" len="med"/>
                      <a:tailEnd type="none" w="med" len="med"/>
                    </a:lnL>
                    <a:lnR w="12700" cap="flat" cmpd="sng" algn="ctr">
                      <a:solidFill>
                        <a:srgbClr val="C9D3E2"/>
                      </a:solidFill>
                      <a:prstDash val="solid"/>
                      <a:round/>
                      <a:headEnd type="none" w="med" len="med"/>
                      <a:tailEnd type="none" w="med" len="med"/>
                    </a:lnR>
                    <a:lnT w="12700" cap="flat" cmpd="sng" algn="ctr">
                      <a:solidFill>
                        <a:srgbClr val="C9D3E2"/>
                      </a:solidFill>
                      <a:prstDash val="solid"/>
                      <a:round/>
                      <a:headEnd type="none" w="med" len="med"/>
                      <a:tailEnd type="none" w="med" len="med"/>
                    </a:lnT>
                    <a:lnB w="12700" cap="flat" cmpd="sng" algn="ctr">
                      <a:solidFill>
                        <a:srgbClr val="C9D3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400" dirty="0">
                          <a:solidFill>
                            <a:srgbClr val="1F2937"/>
                          </a:solidFill>
                        </a:rPr>
                        <a:t>32 px</a:t>
                      </a:r>
                      <a:endParaRPr lang="en-US" sz="1400" dirty="0"/>
                    </a:p>
                  </a:txBody>
                  <a:tcPr marL="54864" marR="54864" marT="54864" marB="54864">
                    <a:lnL w="12700" cap="flat" cmpd="sng" algn="ctr">
                      <a:solidFill>
                        <a:srgbClr val="C9D3E2"/>
                      </a:solidFill>
                      <a:prstDash val="solid"/>
                      <a:round/>
                      <a:headEnd type="none" w="med" len="med"/>
                      <a:tailEnd type="none" w="med" len="med"/>
                    </a:lnL>
                    <a:lnR w="12700" cap="flat" cmpd="sng" algn="ctr">
                      <a:solidFill>
                        <a:srgbClr val="C9D3E2"/>
                      </a:solidFill>
                      <a:prstDash val="solid"/>
                      <a:round/>
                      <a:headEnd type="none" w="med" len="med"/>
                      <a:tailEnd type="none" w="med" len="med"/>
                    </a:lnR>
                    <a:lnT w="12700" cap="flat" cmpd="sng" algn="ctr">
                      <a:solidFill>
                        <a:srgbClr val="C9D3E2"/>
                      </a:solidFill>
                      <a:prstDash val="solid"/>
                      <a:round/>
                      <a:headEnd type="none" w="med" len="med"/>
                      <a:tailEnd type="none" w="med" len="med"/>
                    </a:lnT>
                    <a:lnB w="12700" cap="flat" cmpd="sng" algn="ctr">
                      <a:solidFill>
                        <a:srgbClr val="C9D3E2"/>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0.322</a:t>
                      </a:r>
                      <a:endParaRPr lang="en-US" sz="1400" dirty="0"/>
                    </a:p>
                  </a:txBody>
                  <a:tcPr marL="54864" marR="54864" marT="54864" marB="54864">
                    <a:lnL w="12700" cap="flat" cmpd="sng" algn="ctr">
                      <a:solidFill>
                        <a:srgbClr val="C9D3E2"/>
                      </a:solidFill>
                      <a:prstDash val="solid"/>
                      <a:round/>
                      <a:headEnd type="none" w="med" len="med"/>
                      <a:tailEnd type="none" w="med" len="med"/>
                    </a:lnL>
                    <a:lnR w="12700" cap="flat" cmpd="sng" algn="ctr">
                      <a:solidFill>
                        <a:srgbClr val="C9D3E2"/>
                      </a:solidFill>
                      <a:prstDash val="solid"/>
                      <a:round/>
                      <a:headEnd type="none" w="med" len="med"/>
                      <a:tailEnd type="none" w="med" len="med"/>
                    </a:lnR>
                    <a:lnT w="12700" cap="flat" cmpd="sng" algn="ctr">
                      <a:solidFill>
                        <a:srgbClr val="C9D3E2"/>
                      </a:solidFill>
                      <a:prstDash val="solid"/>
                      <a:round/>
                      <a:headEnd type="none" w="med" len="med"/>
                      <a:tailEnd type="none" w="med" len="med"/>
                    </a:lnT>
                    <a:lnB w="12700" cap="flat" cmpd="sng" algn="ctr">
                      <a:solidFill>
                        <a:srgbClr val="C9D3E2"/>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2.243</a:t>
                      </a:r>
                      <a:endParaRPr lang="en-US" sz="1400" dirty="0"/>
                    </a:p>
                  </a:txBody>
                  <a:tcPr marL="54864" marR="54864" marT="54864" marB="54864">
                    <a:lnL w="12700" cap="flat" cmpd="sng" algn="ctr">
                      <a:solidFill>
                        <a:srgbClr val="C9D3E2"/>
                      </a:solidFill>
                      <a:prstDash val="solid"/>
                      <a:round/>
                      <a:headEnd type="none" w="med" len="med"/>
                      <a:tailEnd type="none" w="med" len="med"/>
                    </a:lnL>
                    <a:lnR w="12700" cap="flat" cmpd="sng" algn="ctr">
                      <a:solidFill>
                        <a:srgbClr val="C9D3E2"/>
                      </a:solidFill>
                      <a:prstDash val="solid"/>
                      <a:round/>
                      <a:headEnd type="none" w="med" len="med"/>
                      <a:tailEnd type="none" w="med" len="med"/>
                    </a:lnR>
                    <a:lnT w="12700" cap="flat" cmpd="sng" algn="ctr">
                      <a:solidFill>
                        <a:srgbClr val="C9D3E2"/>
                      </a:solidFill>
                      <a:prstDash val="solid"/>
                      <a:round/>
                      <a:headEnd type="none" w="med" len="med"/>
                      <a:tailEnd type="none" w="med" len="med"/>
                    </a:lnT>
                    <a:lnB w="12700" cap="flat" cmpd="sng" algn="ctr">
                      <a:solidFill>
                        <a:srgbClr val="C9D3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400" dirty="0">
                          <a:solidFill>
                            <a:srgbClr val="1F2937"/>
                          </a:solidFill>
                        </a:rPr>
                        <a:t>64 px</a:t>
                      </a:r>
                      <a:endParaRPr lang="en-US" sz="1400" dirty="0"/>
                    </a:p>
                  </a:txBody>
                  <a:tcPr marL="54864" marR="54864" marT="54864" marB="54864">
                    <a:lnL w="12700" cap="flat" cmpd="sng" algn="ctr">
                      <a:solidFill>
                        <a:srgbClr val="C9D3E2"/>
                      </a:solidFill>
                      <a:prstDash val="solid"/>
                      <a:round/>
                      <a:headEnd type="none" w="med" len="med"/>
                      <a:tailEnd type="none" w="med" len="med"/>
                    </a:lnL>
                    <a:lnR w="12700" cap="flat" cmpd="sng" algn="ctr">
                      <a:solidFill>
                        <a:srgbClr val="C9D3E2"/>
                      </a:solidFill>
                      <a:prstDash val="solid"/>
                      <a:round/>
                      <a:headEnd type="none" w="med" len="med"/>
                      <a:tailEnd type="none" w="med" len="med"/>
                    </a:lnR>
                    <a:lnT w="12700" cap="flat" cmpd="sng" algn="ctr">
                      <a:solidFill>
                        <a:srgbClr val="C9D3E2"/>
                      </a:solidFill>
                      <a:prstDash val="solid"/>
                      <a:round/>
                      <a:headEnd type="none" w="med" len="med"/>
                      <a:tailEnd type="none" w="med" len="med"/>
                    </a:lnT>
                    <a:lnB w="12700" cap="flat" cmpd="sng" algn="ctr">
                      <a:solidFill>
                        <a:srgbClr val="C9D3E2"/>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0.150</a:t>
                      </a:r>
                      <a:endParaRPr lang="en-US" sz="1400" dirty="0"/>
                    </a:p>
                  </a:txBody>
                  <a:tcPr marL="54864" marR="54864" marT="54864" marB="54864">
                    <a:lnL w="12700" cap="flat" cmpd="sng" algn="ctr">
                      <a:solidFill>
                        <a:srgbClr val="C9D3E2"/>
                      </a:solidFill>
                      <a:prstDash val="solid"/>
                      <a:round/>
                      <a:headEnd type="none" w="med" len="med"/>
                      <a:tailEnd type="none" w="med" len="med"/>
                    </a:lnL>
                    <a:lnR w="12700" cap="flat" cmpd="sng" algn="ctr">
                      <a:solidFill>
                        <a:srgbClr val="C9D3E2"/>
                      </a:solidFill>
                      <a:prstDash val="solid"/>
                      <a:round/>
                      <a:headEnd type="none" w="med" len="med"/>
                      <a:tailEnd type="none" w="med" len="med"/>
                    </a:lnR>
                    <a:lnT w="12700" cap="flat" cmpd="sng" algn="ctr">
                      <a:solidFill>
                        <a:srgbClr val="C9D3E2"/>
                      </a:solidFill>
                      <a:prstDash val="solid"/>
                      <a:round/>
                      <a:headEnd type="none" w="med" len="med"/>
                      <a:tailEnd type="none" w="med" len="med"/>
                    </a:lnT>
                    <a:lnB w="12700" cap="flat" cmpd="sng" algn="ctr">
                      <a:solidFill>
                        <a:srgbClr val="C9D3E2"/>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2.231</a:t>
                      </a:r>
                      <a:endParaRPr lang="en-US" sz="1400" dirty="0"/>
                    </a:p>
                  </a:txBody>
                  <a:tcPr marL="54864" marR="54864" marT="54864" marB="54864">
                    <a:lnL w="12700" cap="flat" cmpd="sng" algn="ctr">
                      <a:solidFill>
                        <a:srgbClr val="C9D3E2"/>
                      </a:solidFill>
                      <a:prstDash val="solid"/>
                      <a:round/>
                      <a:headEnd type="none" w="med" len="med"/>
                      <a:tailEnd type="none" w="med" len="med"/>
                    </a:lnL>
                    <a:lnR w="12700" cap="flat" cmpd="sng" algn="ctr">
                      <a:solidFill>
                        <a:srgbClr val="C9D3E2"/>
                      </a:solidFill>
                      <a:prstDash val="solid"/>
                      <a:round/>
                      <a:headEnd type="none" w="med" len="med"/>
                      <a:tailEnd type="none" w="med" len="med"/>
                    </a:lnR>
                    <a:lnT w="12700" cap="flat" cmpd="sng" algn="ctr">
                      <a:solidFill>
                        <a:srgbClr val="C9D3E2"/>
                      </a:solidFill>
                      <a:prstDash val="solid"/>
                      <a:round/>
                      <a:headEnd type="none" w="med" len="med"/>
                      <a:tailEnd type="none" w="med" len="med"/>
                    </a:lnT>
                    <a:lnB w="12700" cap="flat" cmpd="sng" algn="ctr">
                      <a:solidFill>
                        <a:srgbClr val="C9D3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400" dirty="0">
                          <a:solidFill>
                            <a:srgbClr val="1F2937"/>
                          </a:solidFill>
                        </a:rPr>
                        <a:t>128 px</a:t>
                      </a:r>
                      <a:endParaRPr lang="en-US" sz="1400" dirty="0"/>
                    </a:p>
                  </a:txBody>
                  <a:tcPr marL="54864" marR="54864" marT="54864" marB="54864">
                    <a:lnL w="12700" cap="flat" cmpd="sng" algn="ctr">
                      <a:solidFill>
                        <a:srgbClr val="C9D3E2"/>
                      </a:solidFill>
                      <a:prstDash val="solid"/>
                      <a:round/>
                      <a:headEnd type="none" w="med" len="med"/>
                      <a:tailEnd type="none" w="med" len="med"/>
                    </a:lnL>
                    <a:lnR w="12700" cap="flat" cmpd="sng" algn="ctr">
                      <a:solidFill>
                        <a:srgbClr val="C9D3E2"/>
                      </a:solidFill>
                      <a:prstDash val="solid"/>
                      <a:round/>
                      <a:headEnd type="none" w="med" len="med"/>
                      <a:tailEnd type="none" w="med" len="med"/>
                    </a:lnR>
                    <a:lnT w="12700" cap="flat" cmpd="sng" algn="ctr">
                      <a:solidFill>
                        <a:srgbClr val="C9D3E2"/>
                      </a:solidFill>
                      <a:prstDash val="solid"/>
                      <a:round/>
                      <a:headEnd type="none" w="med" len="med"/>
                      <a:tailEnd type="none" w="med" len="med"/>
                    </a:lnT>
                    <a:lnB w="12700" cap="flat" cmpd="sng" algn="ctr">
                      <a:solidFill>
                        <a:srgbClr val="C9D3E2"/>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0.0225</a:t>
                      </a:r>
                      <a:endParaRPr lang="en-US" sz="1400" dirty="0"/>
                    </a:p>
                  </a:txBody>
                  <a:tcPr marL="54864" marR="54864" marT="54864" marB="54864">
                    <a:lnL w="12700" cap="flat" cmpd="sng" algn="ctr">
                      <a:solidFill>
                        <a:srgbClr val="C9D3E2"/>
                      </a:solidFill>
                      <a:prstDash val="solid"/>
                      <a:round/>
                      <a:headEnd type="none" w="med" len="med"/>
                      <a:tailEnd type="none" w="med" len="med"/>
                    </a:lnL>
                    <a:lnR w="12700" cap="flat" cmpd="sng" algn="ctr">
                      <a:solidFill>
                        <a:srgbClr val="C9D3E2"/>
                      </a:solidFill>
                      <a:prstDash val="solid"/>
                      <a:round/>
                      <a:headEnd type="none" w="med" len="med"/>
                      <a:tailEnd type="none" w="med" len="med"/>
                    </a:lnR>
                    <a:lnT w="12700" cap="flat" cmpd="sng" algn="ctr">
                      <a:solidFill>
                        <a:srgbClr val="C9D3E2"/>
                      </a:solidFill>
                      <a:prstDash val="solid"/>
                      <a:round/>
                      <a:headEnd type="none" w="med" len="med"/>
                      <a:tailEnd type="none" w="med" len="med"/>
                    </a:lnT>
                    <a:lnB w="12700" cap="flat" cmpd="sng" algn="ctr">
                      <a:solidFill>
                        <a:srgbClr val="C9D3E2"/>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2.226</a:t>
                      </a:r>
                      <a:endParaRPr lang="en-US" sz="1400" dirty="0"/>
                    </a:p>
                  </a:txBody>
                  <a:tcPr marL="54864" marR="54864" marT="54864" marB="54864">
                    <a:lnL w="12700" cap="flat" cmpd="sng" algn="ctr">
                      <a:solidFill>
                        <a:srgbClr val="C9D3E2"/>
                      </a:solidFill>
                      <a:prstDash val="solid"/>
                      <a:round/>
                      <a:headEnd type="none" w="med" len="med"/>
                      <a:tailEnd type="none" w="med" len="med"/>
                    </a:lnL>
                    <a:lnR w="12700" cap="flat" cmpd="sng" algn="ctr">
                      <a:solidFill>
                        <a:srgbClr val="C9D3E2"/>
                      </a:solidFill>
                      <a:prstDash val="solid"/>
                      <a:round/>
                      <a:headEnd type="none" w="med" len="med"/>
                      <a:tailEnd type="none" w="med" len="med"/>
                    </a:lnR>
                    <a:lnT w="12700" cap="flat" cmpd="sng" algn="ctr">
                      <a:solidFill>
                        <a:srgbClr val="C9D3E2"/>
                      </a:solidFill>
                      <a:prstDash val="solid"/>
                      <a:round/>
                      <a:headEnd type="none" w="med" len="med"/>
                      <a:tailEnd type="none" w="med" len="med"/>
                    </a:lnT>
                    <a:lnB w="12700" cap="flat" cmpd="sng" algn="ctr">
                      <a:solidFill>
                        <a:srgbClr val="C9D3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400" dirty="0">
                          <a:solidFill>
                            <a:srgbClr val="1F2937"/>
                          </a:solidFill>
                        </a:rPr>
                        <a:t>192 px</a:t>
                      </a:r>
                      <a:endParaRPr lang="en-US" sz="1400" dirty="0"/>
                    </a:p>
                  </a:txBody>
                  <a:tcPr marL="54864" marR="54864" marT="54864" marB="54864">
                    <a:lnL w="12700" cap="flat" cmpd="sng" algn="ctr">
                      <a:solidFill>
                        <a:srgbClr val="C9D3E2"/>
                      </a:solidFill>
                      <a:prstDash val="solid"/>
                      <a:round/>
                      <a:headEnd type="none" w="med" len="med"/>
                      <a:tailEnd type="none" w="med" len="med"/>
                    </a:lnL>
                    <a:lnR w="12700" cap="flat" cmpd="sng" algn="ctr">
                      <a:solidFill>
                        <a:srgbClr val="C9D3E2"/>
                      </a:solidFill>
                      <a:prstDash val="solid"/>
                      <a:round/>
                      <a:headEnd type="none" w="med" len="med"/>
                      <a:tailEnd type="none" w="med" len="med"/>
                    </a:lnR>
                    <a:lnT w="12700" cap="flat" cmpd="sng" algn="ctr">
                      <a:solidFill>
                        <a:srgbClr val="C9D3E2"/>
                      </a:solidFill>
                      <a:prstDash val="solid"/>
                      <a:round/>
                      <a:headEnd type="none" w="med" len="med"/>
                      <a:tailEnd type="none" w="med" len="med"/>
                    </a:lnT>
                    <a:lnB w="12700" cap="flat" cmpd="sng" algn="ctr">
                      <a:solidFill>
                        <a:srgbClr val="C9D3E2"/>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0</a:t>
                      </a:r>
                      <a:endParaRPr lang="en-US" sz="1400" dirty="0"/>
                    </a:p>
                  </a:txBody>
                  <a:tcPr marL="54864" marR="54864" marT="54864" marB="54864">
                    <a:lnL w="12700" cap="flat" cmpd="sng" algn="ctr">
                      <a:solidFill>
                        <a:srgbClr val="C9D3E2"/>
                      </a:solidFill>
                      <a:prstDash val="solid"/>
                      <a:round/>
                      <a:headEnd type="none" w="med" len="med"/>
                      <a:tailEnd type="none" w="med" len="med"/>
                    </a:lnL>
                    <a:lnR w="12700" cap="flat" cmpd="sng" algn="ctr">
                      <a:solidFill>
                        <a:srgbClr val="C9D3E2"/>
                      </a:solidFill>
                      <a:prstDash val="solid"/>
                      <a:round/>
                      <a:headEnd type="none" w="med" len="med"/>
                      <a:tailEnd type="none" w="med" len="med"/>
                    </a:lnR>
                    <a:lnT w="12700" cap="flat" cmpd="sng" algn="ctr">
                      <a:solidFill>
                        <a:srgbClr val="C9D3E2"/>
                      </a:solidFill>
                      <a:prstDash val="solid"/>
                      <a:round/>
                      <a:headEnd type="none" w="med" len="med"/>
                      <a:tailEnd type="none" w="med" len="med"/>
                    </a:lnT>
                    <a:lnB w="12700" cap="flat" cmpd="sng" algn="ctr">
                      <a:solidFill>
                        <a:srgbClr val="C9D3E2"/>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2.226</a:t>
                      </a:r>
                      <a:endParaRPr lang="en-US" sz="1400" dirty="0"/>
                    </a:p>
                  </a:txBody>
                  <a:tcPr marL="54864" marR="54864" marT="54864" marB="54864">
                    <a:lnL w="12700" cap="flat" cmpd="sng" algn="ctr">
                      <a:solidFill>
                        <a:srgbClr val="C9D3E2"/>
                      </a:solidFill>
                      <a:prstDash val="solid"/>
                      <a:round/>
                      <a:headEnd type="none" w="med" len="med"/>
                      <a:tailEnd type="none" w="med" len="med"/>
                    </a:lnL>
                    <a:lnR w="12700" cap="flat" cmpd="sng" algn="ctr">
                      <a:solidFill>
                        <a:srgbClr val="C9D3E2"/>
                      </a:solidFill>
                      <a:prstDash val="solid"/>
                      <a:round/>
                      <a:headEnd type="none" w="med" len="med"/>
                      <a:tailEnd type="none" w="med" len="med"/>
                    </a:lnR>
                    <a:lnT w="12700" cap="flat" cmpd="sng" algn="ctr">
                      <a:solidFill>
                        <a:srgbClr val="C9D3E2"/>
                      </a:solidFill>
                      <a:prstDash val="solid"/>
                      <a:round/>
                      <a:headEnd type="none" w="med" len="med"/>
                      <a:tailEnd type="none" w="med" len="med"/>
                    </a:lnT>
                    <a:lnB w="12700" cap="flat" cmpd="sng" algn="ctr">
                      <a:solidFill>
                        <a:srgbClr val="C9D3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5303520" y="1444752"/>
            <a:ext cx="5897880" cy="3474720"/>
          </a:xfrm>
          <a:prstGeom prst="rect">
            <a:avLst/>
          </a:prstGeom>
          <a:noFill/>
          <a:ln/>
        </p:spPr>
        <p:txBody>
          <a:bodyPr wrap="square" lIns="635" tIns="635" rIns="635" bIns="635" rtlCol="0" anchor="ctr">
            <a:normAutofit/>
          </a:bodyPr>
          <a:lstStyle/>
          <a:p>
            <a:pPr marL="0" indent="0" algn="ctr">
              <a:buNone/>
            </a:pPr>
            <a:r>
              <a:rPr lang="en-US" sz="1500" b="1" dirty="0">
                <a:solidFill>
                  <a:srgbClr val="667085"/>
                </a:solidFill>
              </a:rPr>
              <a:t>ADD FIGURE</a:t>
            </a:r>
            <a:endParaRPr lang="en-US" sz="1500" dirty="0"/>
          </a:p>
          <a:p>
            <a:pPr marL="0" indent="0" algn="ctr">
              <a:buNone/>
            </a:pPr>
            <a:r>
              <a:rPr lang="en-US" sz="1500" b="1" dirty="0">
                <a:solidFill>
                  <a:srgbClr val="667085"/>
                </a:solidFill>
              </a:rPr>
              <a:t>23_full_correction_spatial4_angular4_local_high_metrics.png</a:t>
            </a:r>
            <a:endParaRPr lang="en-US" sz="1500" dirty="0"/>
          </a:p>
        </p:txBody>
      </p:sp>
      <p:sp>
        <p:nvSpPr>
          <p:cNvPr id="7" name="Text 4"/>
          <p:cNvSpPr/>
          <p:nvPr/>
        </p:nvSpPr>
        <p:spPr>
          <a:xfrm>
            <a:off x="5308312" y="5106706"/>
            <a:ext cx="6704726" cy="495953"/>
          </a:xfrm>
          <a:prstGeom prst="rect">
            <a:avLst/>
          </a:prstGeom>
          <a:noFill/>
          <a:ln/>
        </p:spPr>
        <p:txBody>
          <a:bodyPr wrap="square" lIns="254" tIns="254" rIns="254" bIns="254" rtlCol="0" anchor="ctr">
            <a:noAutofit/>
          </a:bodyPr>
          <a:lstStyle/>
          <a:p>
            <a:pPr marL="0" indent="0" algn="ctr">
              <a:buNone/>
            </a:pPr>
            <a:r>
              <a:rPr lang="en-US" sz="1300" i="1" dirty="0"/>
              <a:t>As the HF error approaches zero, the final RMSE saturates near the LF prediction error (~2.23).</a:t>
            </a:r>
            <a:endParaRPr lang="en-US" sz="1300"/>
          </a:p>
        </p:txBody>
      </p:sp>
      <p:sp>
        <p:nvSpPr>
          <p:cNvPr id="8" name="Shape 5"/>
          <p:cNvSpPr/>
          <p:nvPr/>
        </p:nvSpPr>
        <p:spPr>
          <a:xfrm>
            <a:off x="1328057" y="5603966"/>
            <a:ext cx="9875520" cy="594360"/>
          </a:xfrm>
          <a:prstGeom prst="roundRect">
            <a:avLst>
              <a:gd name="adj" fmla="val 12308"/>
            </a:avLst>
          </a:prstGeom>
          <a:solidFill>
            <a:srgbClr val="E9EFF7"/>
          </a:solidFill>
          <a:ln w="12700">
            <a:solidFill>
              <a:srgbClr val="C9D3E2"/>
            </a:solidFill>
            <a:prstDash val="solid"/>
          </a:ln>
        </p:spPr>
      </p:sp>
      <p:sp>
        <p:nvSpPr>
          <p:cNvPr id="9" name="Text 6"/>
          <p:cNvSpPr/>
          <p:nvPr/>
        </p:nvSpPr>
        <p:spPr>
          <a:xfrm>
            <a:off x="1428206" y="5733723"/>
            <a:ext cx="9326880" cy="329184"/>
          </a:xfrm>
          <a:prstGeom prst="rect">
            <a:avLst/>
          </a:prstGeom>
          <a:noFill/>
          <a:ln/>
        </p:spPr>
        <p:txBody>
          <a:bodyPr wrap="square" lIns="762" tIns="762" rIns="762" bIns="762" rtlCol="0" anchor="ctr">
            <a:normAutofit/>
          </a:bodyPr>
          <a:lstStyle/>
          <a:p>
            <a:pPr marL="0" indent="0" algn="ctr">
              <a:buNone/>
            </a:pPr>
            <a:r>
              <a:rPr lang="en-US" sz="1600" b="1" dirty="0">
                <a:solidFill>
                  <a:srgbClr val="263B66"/>
                </a:solidFill>
              </a:rPr>
              <a:t>Beyond ~64–128 px, increasing the HF margin brings little improvement to the final error.</a:t>
            </a:r>
            <a:endParaRPr lang="en-US" sz="1600" dirty="0"/>
          </a:p>
        </p:txBody>
      </p:sp>
      <p:sp>
        <p:nvSpPr>
          <p:cNvPr id="25" name="Slide Number Placeholder 0"/>
          <p:cNvSpPr>
            <a:spLocks noGrp="1"/>
          </p:cNvSpPr>
          <p:nvPr>
            <p:ph type="sldNum" sz="quarter" idx="4294967295"/>
          </p:nvPr>
        </p:nvSpPr>
        <p:spPr>
          <a:xfrm>
            <a:off x="11722608" y="6556248"/>
            <a:ext cx="22860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6B7280"/>
                </a:solidFill>
              </a:defRPr>
            </a:lvl1pPr>
          </a:lstStyle>
          <a:p>
            <a:pPr algn="l"/>
            <a:fld id="{F7021451-1387-4CA6-816F-3879F97B5CBC}" type="slidenum">
              <a:rPr lang="en-US" b="0"/>
              <a:t>10</a:t>
            </a:fld>
            <a:endParaRPr lang="en-US"/>
          </a:p>
        </p:txBody>
      </p:sp>
      <p:pic>
        <p:nvPicPr>
          <p:cNvPr id="4" name="Image 3">
            <a:extLst>
              <a:ext uri="{FF2B5EF4-FFF2-40B4-BE49-F238E27FC236}">
                <a16:creationId xmlns:a16="http://schemas.microsoft.com/office/drawing/2014/main" id="{E4D9E02E-DDBC-7115-2D4A-39B2E3CA03A6}"/>
              </a:ext>
            </a:extLst>
          </p:cNvPr>
          <p:cNvPicPr>
            <a:picLocks noChangeAspect="1"/>
          </p:cNvPicPr>
          <p:nvPr/>
        </p:nvPicPr>
        <p:blipFill>
          <a:blip r:embed="rId3"/>
          <a:srcRect l="10859" t="17143" r="24975" b="16258"/>
          <a:stretch>
            <a:fillRect/>
          </a:stretch>
        </p:blipFill>
        <p:spPr>
          <a:xfrm>
            <a:off x="5317551" y="1328057"/>
            <a:ext cx="6243262" cy="397956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141577" y="126602"/>
            <a:ext cx="10972800" cy="411480"/>
          </a:xfrm>
          <a:prstGeom prst="rect">
            <a:avLst/>
          </a:prstGeom>
          <a:noFill/>
          <a:ln/>
        </p:spPr>
        <p:txBody>
          <a:bodyPr wrap="square" lIns="0" tIns="0" rIns="0" bIns="0" rtlCol="0" anchor="ctr"/>
          <a:lstStyle/>
          <a:p>
            <a:pPr marL="0" indent="0">
              <a:buNone/>
            </a:pPr>
            <a:r>
              <a:rPr lang="en-US" sz="2400" b="1" dirty="0">
                <a:solidFill>
                  <a:srgbClr val="263B66"/>
                </a:solidFill>
              </a:rPr>
              <a:t>Validation on reconstructed data</a:t>
            </a:r>
            <a:endParaRPr lang="en-US" sz="2400" dirty="0"/>
          </a:p>
        </p:txBody>
      </p:sp>
      <p:sp>
        <p:nvSpPr>
          <p:cNvPr id="3" name="Text 1"/>
          <p:cNvSpPr/>
          <p:nvPr/>
        </p:nvSpPr>
        <p:spPr>
          <a:xfrm>
            <a:off x="5129430" y="31629"/>
            <a:ext cx="5757187" cy="620467"/>
          </a:xfrm>
          <a:prstGeom prst="rect">
            <a:avLst/>
          </a:prstGeom>
          <a:noFill/>
          <a:ln/>
        </p:spPr>
        <p:txBody>
          <a:bodyPr wrap="square" lIns="0" tIns="0" rIns="0" bIns="0" rtlCol="0" anchor="ctr"/>
          <a:lstStyle/>
          <a:p>
            <a:pPr marL="0" indent="0">
              <a:buNone/>
            </a:pPr>
            <a:r>
              <a:rPr lang="en-US" dirty="0"/>
              <a:t>Final visual check on experimental reconstruction</a:t>
            </a:r>
            <a:endParaRPr lang="en-US"/>
          </a:p>
        </p:txBody>
      </p:sp>
      <p:sp>
        <p:nvSpPr>
          <p:cNvPr id="5" name="Text 3"/>
          <p:cNvSpPr/>
          <p:nvPr/>
        </p:nvSpPr>
        <p:spPr>
          <a:xfrm>
            <a:off x="822960" y="1399032"/>
            <a:ext cx="5074920" cy="3749040"/>
          </a:xfrm>
          <a:prstGeom prst="rect">
            <a:avLst/>
          </a:prstGeom>
          <a:noFill/>
          <a:ln/>
        </p:spPr>
        <p:txBody>
          <a:bodyPr wrap="square" lIns="635" tIns="635" rIns="635" bIns="635" rtlCol="0" anchor="ctr">
            <a:normAutofit/>
          </a:bodyPr>
          <a:lstStyle/>
          <a:p>
            <a:pPr marL="0" indent="0" algn="ctr">
              <a:buNone/>
            </a:pPr>
            <a:endParaRPr lang="en-US" sz="1500" b="1" dirty="0">
              <a:solidFill>
                <a:srgbClr val="667085"/>
              </a:solidFill>
            </a:endParaRPr>
          </a:p>
        </p:txBody>
      </p:sp>
      <p:sp>
        <p:nvSpPr>
          <p:cNvPr id="8" name="Text 6"/>
          <p:cNvSpPr/>
          <p:nvPr/>
        </p:nvSpPr>
        <p:spPr>
          <a:xfrm>
            <a:off x="6309360" y="1399032"/>
            <a:ext cx="5074920" cy="3749040"/>
          </a:xfrm>
          <a:prstGeom prst="rect">
            <a:avLst/>
          </a:prstGeom>
          <a:noFill/>
          <a:ln/>
        </p:spPr>
        <p:txBody>
          <a:bodyPr wrap="square" lIns="635" tIns="635" rIns="635" bIns="635" rtlCol="0" anchor="ctr">
            <a:normAutofit/>
          </a:bodyPr>
          <a:lstStyle/>
          <a:p>
            <a:pPr marL="0" indent="0" algn="ctr">
              <a:buNone/>
            </a:pPr>
            <a:endParaRPr lang="en-US" sz="1500" b="1" dirty="0">
              <a:solidFill>
                <a:srgbClr val="667085"/>
              </a:solidFill>
            </a:endParaRPr>
          </a:p>
        </p:txBody>
      </p:sp>
      <p:sp>
        <p:nvSpPr>
          <p:cNvPr id="25" name="Slide Number Placeholder 0"/>
          <p:cNvSpPr>
            <a:spLocks noGrp="1"/>
          </p:cNvSpPr>
          <p:nvPr>
            <p:ph type="sldNum" sz="quarter" idx="4294967295"/>
          </p:nvPr>
        </p:nvSpPr>
        <p:spPr>
          <a:xfrm>
            <a:off x="11722608" y="6556248"/>
            <a:ext cx="228600" cy="164592"/>
          </a:xfrm>
          <a:prstGeom prst="rect">
            <a:avLst/>
          </a:prstGeom>
          <a:extLst>
            <a:ext uri="{C572A759-6A51-4108-AA02-DFA0A04FC94B}">
              <ma14:wrappingTextBoxFlag xmlns:ma14="http://schemas.microsoft.com/office/mac/drawingml/2011/main" xmlns="" val="0"/>
            </a:ext>
          </a:extLst>
        </p:spPr>
        <p:txBody>
          <a:bodyPr/>
          <a:lstStyle>
            <a:lvl1pPr>
              <a:defRPr sz="750">
                <a:solidFill>
                  <a:srgbClr val="6B7280"/>
                </a:solidFill>
              </a:defRPr>
            </a:lvl1pPr>
          </a:lstStyle>
          <a:p>
            <a:pPr algn="l"/>
            <a:fld id="{F7021451-1387-4CA6-816F-3879F97B5CBC}" type="slidenum">
              <a:rPr lang="en-US" b="0"/>
              <a:t>11</a:t>
            </a:fld>
            <a:endParaRPr lang="en-US"/>
          </a:p>
        </p:txBody>
      </p:sp>
      <p:pic>
        <p:nvPicPr>
          <p:cNvPr id="6" name="Image 5">
            <a:extLst>
              <a:ext uri="{FF2B5EF4-FFF2-40B4-BE49-F238E27FC236}">
                <a16:creationId xmlns:a16="http://schemas.microsoft.com/office/drawing/2014/main" id="{5D82719D-11B0-D258-A8A7-EB5F7CFA1670}"/>
              </a:ext>
            </a:extLst>
          </p:cNvPr>
          <p:cNvPicPr>
            <a:picLocks noChangeAspect="1"/>
          </p:cNvPicPr>
          <p:nvPr/>
        </p:nvPicPr>
        <p:blipFill>
          <a:blip r:embed="rId3"/>
          <a:stretch>
            <a:fillRect/>
          </a:stretch>
        </p:blipFill>
        <p:spPr>
          <a:xfrm>
            <a:off x="6324712" y="696684"/>
            <a:ext cx="5507944" cy="5464630"/>
          </a:xfrm>
          <a:prstGeom prst="rect">
            <a:avLst/>
          </a:prstGeom>
        </p:spPr>
      </p:pic>
      <p:pic>
        <p:nvPicPr>
          <p:cNvPr id="7" name="Image 6">
            <a:extLst>
              <a:ext uri="{FF2B5EF4-FFF2-40B4-BE49-F238E27FC236}">
                <a16:creationId xmlns:a16="http://schemas.microsoft.com/office/drawing/2014/main" id="{9BE34204-A8DA-A39E-7B78-16B487DC4597}"/>
              </a:ext>
            </a:extLst>
          </p:cNvPr>
          <p:cNvPicPr>
            <a:picLocks noChangeAspect="1"/>
          </p:cNvPicPr>
          <p:nvPr/>
        </p:nvPicPr>
        <p:blipFill>
          <a:blip r:embed="rId4"/>
          <a:stretch>
            <a:fillRect/>
          </a:stretch>
        </p:blipFill>
        <p:spPr>
          <a:xfrm>
            <a:off x="139297" y="696026"/>
            <a:ext cx="5511616" cy="546462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Une image contenant carte, cercle, cratère, noir et blanc&#10;&#10;Le contenu généré par l’IA peut être incorrect.">
            <a:extLst>
              <a:ext uri="{FF2B5EF4-FFF2-40B4-BE49-F238E27FC236}">
                <a16:creationId xmlns:a16="http://schemas.microsoft.com/office/drawing/2014/main" id="{D9DD569A-700B-30DA-764C-231E7178790A}"/>
              </a:ext>
            </a:extLst>
          </p:cNvPr>
          <p:cNvPicPr>
            <a:picLocks noChangeAspect="1"/>
          </p:cNvPicPr>
          <p:nvPr/>
        </p:nvPicPr>
        <p:blipFill>
          <a:blip r:embed="rId3"/>
          <a:stretch>
            <a:fillRect/>
          </a:stretch>
        </p:blipFill>
        <p:spPr>
          <a:xfrm>
            <a:off x="-4095" y="175490"/>
            <a:ext cx="6161590" cy="6204858"/>
          </a:xfrm>
          <a:prstGeom prst="rect">
            <a:avLst/>
          </a:prstGeom>
        </p:spPr>
      </p:pic>
      <p:pic>
        <p:nvPicPr>
          <p:cNvPr id="5" name="Image 4">
            <a:extLst>
              <a:ext uri="{FF2B5EF4-FFF2-40B4-BE49-F238E27FC236}">
                <a16:creationId xmlns:a16="http://schemas.microsoft.com/office/drawing/2014/main" id="{36260CCC-B3F1-4470-1D55-B0CF2AEBA5AF}"/>
              </a:ext>
            </a:extLst>
          </p:cNvPr>
          <p:cNvPicPr>
            <a:picLocks noChangeAspect="1"/>
          </p:cNvPicPr>
          <p:nvPr/>
        </p:nvPicPr>
        <p:blipFill>
          <a:blip r:embed="rId4"/>
          <a:stretch>
            <a:fillRect/>
          </a:stretch>
        </p:blipFill>
        <p:spPr>
          <a:xfrm>
            <a:off x="6161176" y="174171"/>
            <a:ext cx="6161590" cy="6204858"/>
          </a:xfrm>
          <a:prstGeom prst="rect">
            <a:avLst/>
          </a:prstGeom>
        </p:spPr>
      </p:pic>
    </p:spTree>
    <p:extLst>
      <p:ext uri="{BB962C8B-B14F-4D97-AF65-F5344CB8AC3E}">
        <p14:creationId xmlns:p14="http://schemas.microsoft.com/office/powerpoint/2010/main" val="38923855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1BE3FA7-0D70-4431-814F-D8C40576EA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Image 3">
            <a:extLst>
              <a:ext uri="{FF2B5EF4-FFF2-40B4-BE49-F238E27FC236}">
                <a16:creationId xmlns:a16="http://schemas.microsoft.com/office/drawing/2014/main" id="{AEA6B4A6-F631-94B9-CBE4-189E5603C133}"/>
              </a:ext>
            </a:extLst>
          </p:cNvPr>
          <p:cNvPicPr>
            <a:picLocks noChangeAspect="1"/>
          </p:cNvPicPr>
          <p:nvPr/>
        </p:nvPicPr>
        <p:blipFill>
          <a:blip r:embed="rId3"/>
          <a:srcRect r="559"/>
          <a:stretch>
            <a:fillRect/>
          </a:stretch>
        </p:blipFill>
        <p:spPr>
          <a:xfrm>
            <a:off x="321731" y="557189"/>
            <a:ext cx="5668684" cy="5743618"/>
          </a:xfrm>
          <a:prstGeom prst="rect">
            <a:avLst/>
          </a:prstGeom>
        </p:spPr>
      </p:pic>
      <p:pic>
        <p:nvPicPr>
          <p:cNvPr id="3" name="Image 2" descr="Une image contenant carte, cratère, noir et blanc&#10;&#10;Le contenu généré par l’IA peut être incorrect.">
            <a:extLst>
              <a:ext uri="{FF2B5EF4-FFF2-40B4-BE49-F238E27FC236}">
                <a16:creationId xmlns:a16="http://schemas.microsoft.com/office/drawing/2014/main" id="{38EB6D3A-A923-4837-6303-EF5EE9D35669}"/>
              </a:ext>
            </a:extLst>
          </p:cNvPr>
          <p:cNvPicPr>
            <a:picLocks noChangeAspect="1"/>
          </p:cNvPicPr>
          <p:nvPr/>
        </p:nvPicPr>
        <p:blipFill>
          <a:blip r:embed="rId4"/>
          <a:srcRect r="450"/>
          <a:stretch>
            <a:fillRect/>
          </a:stretch>
        </p:blipFill>
        <p:spPr>
          <a:xfrm>
            <a:off x="6195375" y="557189"/>
            <a:ext cx="5674893" cy="5743618"/>
          </a:xfrm>
          <a:prstGeom prst="rect">
            <a:avLst/>
          </a:prstGeom>
        </p:spPr>
      </p:pic>
    </p:spTree>
    <p:extLst>
      <p:ext uri="{BB962C8B-B14F-4D97-AF65-F5344CB8AC3E}">
        <p14:creationId xmlns:p14="http://schemas.microsoft.com/office/powerpoint/2010/main" val="3345502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94360" y="228600"/>
            <a:ext cx="502920" cy="7315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47472"/>
            <a:ext cx="10972800" cy="438912"/>
          </a:xfrm>
          <a:prstGeom prst="rect">
            <a:avLst/>
          </a:prstGeom>
          <a:noFill/>
        </p:spPr>
        <p:txBody>
          <a:bodyPr wrap="none">
            <a:spAutoFit/>
          </a:bodyPr>
          <a:lstStyle/>
          <a:p>
            <a:pPr>
              <a:defRPr sz="2500" b="1">
                <a:solidFill>
                  <a:srgbClr val="19232D"/>
                </a:solidFill>
              </a:defRPr>
            </a:pPr>
            <a:r>
              <a:t>Measured performance gains</a:t>
            </a:r>
          </a:p>
        </p:txBody>
      </p:sp>
      <p:sp>
        <p:nvSpPr>
          <p:cNvPr id="5" name="Rounded Rectangle 4"/>
          <p:cNvSpPr/>
          <p:nvPr/>
        </p:nvSpPr>
        <p:spPr>
          <a:xfrm>
            <a:off x="685800" y="1417320"/>
            <a:ext cx="3154680" cy="2971800"/>
          </a:xfrm>
          <a:prstGeom prst="roundRect">
            <a:avLst/>
          </a:prstGeom>
          <a:solidFill>
            <a:srgbClr val="F3F7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719072"/>
            <a:ext cx="2697480" cy="320040"/>
          </a:xfrm>
          <a:prstGeom prst="rect">
            <a:avLst/>
          </a:prstGeom>
          <a:noFill/>
        </p:spPr>
        <p:txBody>
          <a:bodyPr wrap="none">
            <a:spAutoFit/>
          </a:bodyPr>
          <a:lstStyle/>
          <a:p>
            <a:pPr algn="ctr">
              <a:defRPr sz="1200" b="1">
                <a:solidFill>
                  <a:srgbClr val="1F4E79"/>
                </a:solidFill>
              </a:defRPr>
            </a:pPr>
            <a:r>
              <a:t>DISK FOOTPRINT</a:t>
            </a:r>
          </a:p>
        </p:txBody>
      </p:sp>
      <p:sp>
        <p:nvSpPr>
          <p:cNvPr id="7" name="TextBox 6"/>
          <p:cNvSpPr txBox="1"/>
          <p:nvPr/>
        </p:nvSpPr>
        <p:spPr>
          <a:xfrm>
            <a:off x="868680" y="2331720"/>
            <a:ext cx="2788920" cy="502920"/>
          </a:xfrm>
          <a:prstGeom prst="rect">
            <a:avLst/>
          </a:prstGeom>
          <a:noFill/>
        </p:spPr>
        <p:txBody>
          <a:bodyPr wrap="none">
            <a:spAutoFit/>
          </a:bodyPr>
          <a:lstStyle/>
          <a:p>
            <a:pPr algn="ctr">
              <a:defRPr sz="2200" b="1">
                <a:solidFill>
                  <a:srgbClr val="19232D"/>
                </a:solidFill>
              </a:defRPr>
            </a:pPr>
            <a:r>
              <a:t>4.7 TB  →  80 GB</a:t>
            </a:r>
          </a:p>
        </p:txBody>
      </p:sp>
      <p:sp>
        <p:nvSpPr>
          <p:cNvPr id="8" name="TextBox 7"/>
          <p:cNvSpPr txBox="1"/>
          <p:nvPr/>
        </p:nvSpPr>
        <p:spPr>
          <a:xfrm>
            <a:off x="868680" y="3035808"/>
            <a:ext cx="2788920" cy="438912"/>
          </a:xfrm>
          <a:prstGeom prst="rect">
            <a:avLst/>
          </a:prstGeom>
          <a:noFill/>
        </p:spPr>
        <p:txBody>
          <a:bodyPr wrap="none">
            <a:spAutoFit/>
          </a:bodyPr>
          <a:lstStyle/>
          <a:p>
            <a:pPr algn="ctr">
              <a:defRPr sz="1800" b="1">
                <a:solidFill>
                  <a:srgbClr val="247864"/>
                </a:solidFill>
              </a:defRPr>
            </a:pPr>
            <a:r>
              <a:t>≈ 59× smaller</a:t>
            </a:r>
          </a:p>
        </p:txBody>
      </p:sp>
      <p:sp>
        <p:nvSpPr>
          <p:cNvPr id="9" name="TextBox 8"/>
          <p:cNvSpPr txBox="1"/>
          <p:nvPr/>
        </p:nvSpPr>
        <p:spPr>
          <a:xfrm>
            <a:off x="1365201" y="3638877"/>
            <a:ext cx="1784994" cy="269304"/>
          </a:xfrm>
          <a:prstGeom prst="rect">
            <a:avLst/>
          </a:prstGeom>
          <a:noFill/>
        </p:spPr>
        <p:txBody>
          <a:bodyPr wrap="square" lIns="91440" tIns="45720" rIns="91440" bIns="45720" anchor="t">
            <a:spAutoFit/>
          </a:bodyPr>
          <a:lstStyle/>
          <a:p>
            <a:pPr algn="ctr">
              <a:defRPr sz="1150">
                <a:solidFill>
                  <a:srgbClr val="5A646E"/>
                </a:solidFill>
              </a:defRPr>
            </a:pPr>
            <a:r>
              <a:rPr dirty="0"/>
              <a:t>98.3% </a:t>
            </a:r>
            <a:r>
              <a:rPr dirty="0" err="1"/>
              <a:t>reduction</a:t>
            </a:r>
            <a:endParaRPr lang="fr-FR" dirty="0" err="1"/>
          </a:p>
        </p:txBody>
      </p:sp>
      <p:sp>
        <p:nvSpPr>
          <p:cNvPr id="10" name="Rounded Rectangle 9"/>
          <p:cNvSpPr/>
          <p:nvPr/>
        </p:nvSpPr>
        <p:spPr>
          <a:xfrm>
            <a:off x="4160520" y="1417320"/>
            <a:ext cx="3154680" cy="2971800"/>
          </a:xfrm>
          <a:prstGeom prst="roundRect">
            <a:avLst/>
          </a:prstGeom>
          <a:solidFill>
            <a:srgbClr val="F3F7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89120" y="1719072"/>
            <a:ext cx="2697480" cy="320040"/>
          </a:xfrm>
          <a:prstGeom prst="rect">
            <a:avLst/>
          </a:prstGeom>
          <a:noFill/>
        </p:spPr>
        <p:txBody>
          <a:bodyPr wrap="none">
            <a:spAutoFit/>
          </a:bodyPr>
          <a:lstStyle/>
          <a:p>
            <a:pPr algn="ctr">
              <a:defRPr sz="1200" b="1">
                <a:solidFill>
                  <a:srgbClr val="1F4E79"/>
                </a:solidFill>
              </a:defRPr>
            </a:pPr>
            <a:r>
              <a:t>DIGEST CREATION</a:t>
            </a:r>
          </a:p>
        </p:txBody>
      </p:sp>
      <p:sp>
        <p:nvSpPr>
          <p:cNvPr id="12" name="TextBox 11"/>
          <p:cNvSpPr txBox="1"/>
          <p:nvPr/>
        </p:nvSpPr>
        <p:spPr>
          <a:xfrm>
            <a:off x="4343400" y="2331720"/>
            <a:ext cx="2788920" cy="502920"/>
          </a:xfrm>
          <a:prstGeom prst="rect">
            <a:avLst/>
          </a:prstGeom>
          <a:noFill/>
        </p:spPr>
        <p:txBody>
          <a:bodyPr wrap="none">
            <a:spAutoFit/>
          </a:bodyPr>
          <a:lstStyle/>
          <a:p>
            <a:pPr algn="ctr">
              <a:defRPr sz="2200" b="1">
                <a:solidFill>
                  <a:srgbClr val="19232D"/>
                </a:solidFill>
              </a:defRPr>
            </a:pPr>
            <a:r>
              <a:t>32 min  →  4 min</a:t>
            </a:r>
          </a:p>
        </p:txBody>
      </p:sp>
      <p:sp>
        <p:nvSpPr>
          <p:cNvPr id="13" name="TextBox 12"/>
          <p:cNvSpPr txBox="1"/>
          <p:nvPr/>
        </p:nvSpPr>
        <p:spPr>
          <a:xfrm>
            <a:off x="4343400" y="3035808"/>
            <a:ext cx="2788920" cy="438912"/>
          </a:xfrm>
          <a:prstGeom prst="rect">
            <a:avLst/>
          </a:prstGeom>
          <a:noFill/>
        </p:spPr>
        <p:txBody>
          <a:bodyPr wrap="none">
            <a:spAutoFit/>
          </a:bodyPr>
          <a:lstStyle/>
          <a:p>
            <a:pPr algn="ctr">
              <a:defRPr sz="1800" b="1">
                <a:solidFill>
                  <a:srgbClr val="247864"/>
                </a:solidFill>
              </a:defRPr>
            </a:pPr>
            <a:r>
              <a:t>8× faster</a:t>
            </a:r>
          </a:p>
        </p:txBody>
      </p:sp>
      <p:sp>
        <p:nvSpPr>
          <p:cNvPr id="14" name="TextBox 13"/>
          <p:cNvSpPr txBox="1"/>
          <p:nvPr/>
        </p:nvSpPr>
        <p:spPr>
          <a:xfrm>
            <a:off x="4343400" y="3584448"/>
            <a:ext cx="2788920" cy="320040"/>
          </a:xfrm>
          <a:prstGeom prst="rect">
            <a:avLst/>
          </a:prstGeom>
          <a:noFill/>
        </p:spPr>
        <p:txBody>
          <a:bodyPr wrap="none">
            <a:spAutoFit/>
          </a:bodyPr>
          <a:lstStyle/>
          <a:p>
            <a:pPr algn="ctr">
              <a:defRPr sz="1150">
                <a:solidFill>
                  <a:srgbClr val="5A646E"/>
                </a:solidFill>
              </a:defRPr>
            </a:pPr>
            <a:r>
              <a:t>87.5% less time</a:t>
            </a:r>
          </a:p>
        </p:txBody>
      </p:sp>
      <p:sp>
        <p:nvSpPr>
          <p:cNvPr id="15" name="Rounded Rectangle 14"/>
          <p:cNvSpPr/>
          <p:nvPr/>
        </p:nvSpPr>
        <p:spPr>
          <a:xfrm>
            <a:off x="7635240" y="1417320"/>
            <a:ext cx="3154680" cy="2971800"/>
          </a:xfrm>
          <a:prstGeom prst="roundRect">
            <a:avLst/>
          </a:prstGeom>
          <a:solidFill>
            <a:srgbClr val="F3F7FA"/>
          </a:solidFill>
          <a:ln>
            <a:solidFill>
              <a:srgbClr val="DCE4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63840" y="1719072"/>
            <a:ext cx="2697480" cy="320040"/>
          </a:xfrm>
          <a:prstGeom prst="rect">
            <a:avLst/>
          </a:prstGeom>
          <a:noFill/>
        </p:spPr>
        <p:txBody>
          <a:bodyPr wrap="none">
            <a:spAutoFit/>
          </a:bodyPr>
          <a:lstStyle/>
          <a:p>
            <a:pPr algn="ctr">
              <a:defRPr sz="1200" b="1">
                <a:solidFill>
                  <a:srgbClr val="1F4E79"/>
                </a:solidFill>
              </a:defRPr>
            </a:pPr>
            <a:r>
              <a:t>RECONSTRUCTION</a:t>
            </a:r>
          </a:p>
        </p:txBody>
      </p:sp>
      <p:sp>
        <p:nvSpPr>
          <p:cNvPr id="17" name="TextBox 16"/>
          <p:cNvSpPr txBox="1"/>
          <p:nvPr/>
        </p:nvSpPr>
        <p:spPr>
          <a:xfrm>
            <a:off x="7818119" y="2331720"/>
            <a:ext cx="2788920" cy="502920"/>
          </a:xfrm>
          <a:prstGeom prst="rect">
            <a:avLst/>
          </a:prstGeom>
          <a:noFill/>
        </p:spPr>
        <p:txBody>
          <a:bodyPr wrap="none">
            <a:spAutoFit/>
          </a:bodyPr>
          <a:lstStyle/>
          <a:p>
            <a:pPr algn="ctr">
              <a:defRPr sz="2200" b="1">
                <a:solidFill>
                  <a:srgbClr val="19232D"/>
                </a:solidFill>
              </a:defRPr>
            </a:pPr>
            <a:r>
              <a:t>118 min  →  93 min</a:t>
            </a:r>
          </a:p>
        </p:txBody>
      </p:sp>
      <p:sp>
        <p:nvSpPr>
          <p:cNvPr id="18" name="TextBox 17"/>
          <p:cNvSpPr txBox="1"/>
          <p:nvPr/>
        </p:nvSpPr>
        <p:spPr>
          <a:xfrm>
            <a:off x="7818119" y="3035808"/>
            <a:ext cx="2788920" cy="438912"/>
          </a:xfrm>
          <a:prstGeom prst="rect">
            <a:avLst/>
          </a:prstGeom>
          <a:noFill/>
        </p:spPr>
        <p:txBody>
          <a:bodyPr wrap="none">
            <a:spAutoFit/>
          </a:bodyPr>
          <a:lstStyle/>
          <a:p>
            <a:pPr algn="ctr">
              <a:defRPr sz="1800" b="1">
                <a:solidFill>
                  <a:srgbClr val="247864"/>
                </a:solidFill>
              </a:defRPr>
            </a:pPr>
            <a:r>
              <a:t>−25 min</a:t>
            </a:r>
          </a:p>
        </p:txBody>
      </p:sp>
      <p:sp>
        <p:nvSpPr>
          <p:cNvPr id="19" name="TextBox 18"/>
          <p:cNvSpPr txBox="1"/>
          <p:nvPr/>
        </p:nvSpPr>
        <p:spPr>
          <a:xfrm>
            <a:off x="7818119" y="3584448"/>
            <a:ext cx="2788920" cy="320040"/>
          </a:xfrm>
          <a:prstGeom prst="rect">
            <a:avLst/>
          </a:prstGeom>
          <a:noFill/>
        </p:spPr>
        <p:txBody>
          <a:bodyPr wrap="none">
            <a:spAutoFit/>
          </a:bodyPr>
          <a:lstStyle/>
          <a:p>
            <a:pPr algn="ctr">
              <a:defRPr sz="1150">
                <a:solidFill>
                  <a:srgbClr val="5A646E"/>
                </a:solidFill>
              </a:defRPr>
            </a:pPr>
            <a:r>
              <a:t>≈ 21.2% less time</a:t>
            </a:r>
          </a:p>
        </p:txBody>
      </p:sp>
      <p:sp>
        <p:nvSpPr>
          <p:cNvPr id="20" name="TextBox 19"/>
          <p:cNvSpPr txBox="1"/>
          <p:nvPr/>
        </p:nvSpPr>
        <p:spPr>
          <a:xfrm>
            <a:off x="4346697" y="4778829"/>
            <a:ext cx="3250410" cy="1077218"/>
          </a:xfrm>
          <a:prstGeom prst="rect">
            <a:avLst/>
          </a:prstGeom>
          <a:noFill/>
        </p:spPr>
        <p:txBody>
          <a:bodyPr wrap="square" lIns="91440" tIns="45720" rIns="91440" bIns="45720" anchor="t">
            <a:spAutoFit/>
          </a:bodyPr>
          <a:lstStyle/>
          <a:p>
            <a:pPr algn="ctr">
              <a:defRPr sz="1300" b="1">
                <a:solidFill>
                  <a:srgbClr val="1F4E79"/>
                </a:solidFill>
              </a:defRPr>
            </a:pPr>
            <a:r>
              <a:rPr sz="1600" dirty="0" err="1"/>
              <a:t>Measured</a:t>
            </a:r>
            <a:r>
              <a:rPr sz="1600" dirty="0"/>
              <a:t> final gains</a:t>
            </a:r>
            <a:endParaRPr lang="fr-FR" sz="1600" dirty="0"/>
          </a:p>
          <a:p>
            <a:pPr algn="ctr">
              <a:defRPr sz="1300">
                <a:solidFill>
                  <a:srgbClr val="19232D"/>
                </a:solidFill>
              </a:defRPr>
            </a:pPr>
            <a:r>
              <a:rPr sz="1600"/>
              <a:t>4.7 TB / 80 GB ≈ 59   </a:t>
            </a:r>
            <a:endParaRPr lang="fr-FR" sz="1600" dirty="0"/>
          </a:p>
          <a:p>
            <a:pPr algn="ctr">
              <a:defRPr sz="1300">
                <a:solidFill>
                  <a:srgbClr val="19232D"/>
                </a:solidFill>
              </a:defRPr>
            </a:pPr>
            <a:r>
              <a:rPr lang="fr-FR" sz="1600" dirty="0"/>
              <a:t> </a:t>
            </a:r>
            <a:r>
              <a:rPr sz="1600"/>
              <a:t> 32 / 4 = 8   </a:t>
            </a:r>
            <a:endParaRPr lang="fr-FR" sz="1600" dirty="0"/>
          </a:p>
          <a:p>
            <a:pPr algn="ctr">
              <a:defRPr sz="1300">
                <a:solidFill>
                  <a:srgbClr val="19232D"/>
                </a:solidFill>
              </a:defRPr>
            </a:pPr>
            <a:r>
              <a:rPr sz="1600"/>
              <a:t>(118−93)/118 × 100 ≈ 21.2%</a:t>
            </a:r>
          </a:p>
        </p:txBody>
      </p:sp>
      <p:sp>
        <p:nvSpPr>
          <p:cNvPr id="21" name="TextBox 20"/>
          <p:cNvSpPr txBox="1"/>
          <p:nvPr/>
        </p:nvSpPr>
        <p:spPr>
          <a:xfrm>
            <a:off x="11722608" y="6556248"/>
            <a:ext cx="228600" cy="164592"/>
          </a:xfrm>
          <a:prstGeom prst="rect">
            <a:avLst/>
          </a:prstGeom>
          <a:noFill/>
        </p:spPr>
        <p:txBody>
          <a:bodyPr wrap="none">
            <a:spAutoFit/>
          </a:bodyPr>
          <a:lstStyle/>
          <a:p>
            <a:pPr>
              <a:defRPr sz="800">
                <a:solidFill>
                  <a:srgbClr val="5A646E"/>
                </a:solidFill>
              </a:defRPr>
            </a:pPr>
            <a:r>
              <a:t>12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AF58358-E16A-6D49-F6E0-19548F76D30B}"/>
              </a:ext>
            </a:extLst>
          </p:cNvPr>
          <p:cNvSpPr txBox="1"/>
          <p:nvPr/>
        </p:nvSpPr>
        <p:spPr>
          <a:xfrm>
            <a:off x="775607" y="802821"/>
            <a:ext cx="10646228"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dirty="0" err="1"/>
              <a:t>Comments</a:t>
            </a:r>
            <a:r>
              <a:rPr lang="fr-FR" dirty="0"/>
              <a:t> after </a:t>
            </a:r>
            <a:r>
              <a:rPr lang="fr-FR" dirty="0" err="1"/>
              <a:t>presentation</a:t>
            </a:r>
            <a:r>
              <a:rPr lang="fr-FR" dirty="0"/>
              <a:t> :</a:t>
            </a:r>
          </a:p>
          <a:p>
            <a:endParaRPr lang="fr-FR"/>
          </a:p>
          <a:p>
            <a:pPr marL="285750" indent="-285750">
              <a:buFont typeface="Calibri"/>
              <a:buChar char="-"/>
            </a:pPr>
            <a:r>
              <a:rPr lang="fr-FR" dirty="0"/>
              <a:t>Model </a:t>
            </a:r>
            <a:r>
              <a:rPr lang="fr-FR" dirty="0" err="1"/>
              <a:t>is</a:t>
            </a:r>
            <a:r>
              <a:rPr lang="fr-FR" dirty="0"/>
              <a:t> Linear : </a:t>
            </a:r>
            <a:r>
              <a:rPr lang="fr-FR" dirty="0" err="1"/>
              <a:t>seperation</a:t>
            </a:r>
            <a:r>
              <a:rPr lang="fr-FR" dirty="0"/>
              <a:t> of </a:t>
            </a:r>
            <a:r>
              <a:rPr lang="fr-FR" dirty="0" err="1"/>
              <a:t>Lf</a:t>
            </a:r>
            <a:r>
              <a:rPr lang="fr-FR" dirty="0"/>
              <a:t> and Hf.</a:t>
            </a:r>
          </a:p>
          <a:p>
            <a:pPr marL="285750" indent="-285750">
              <a:buFont typeface="Calibri"/>
              <a:buChar char="-"/>
            </a:pPr>
            <a:r>
              <a:rPr lang="fr-FR" dirty="0"/>
              <a:t>Add pipeline </a:t>
            </a:r>
            <a:r>
              <a:rPr lang="fr-FR" err="1"/>
              <a:t>recap</a:t>
            </a:r>
            <a:r>
              <a:rPr lang="fr-FR" dirty="0"/>
              <a:t> : </a:t>
            </a:r>
            <a:r>
              <a:rPr lang="fr-FR" err="1"/>
              <a:t>steps</a:t>
            </a:r>
            <a:r>
              <a:rPr lang="fr-FR" dirty="0"/>
              <a:t> ==&gt; diff </a:t>
            </a:r>
            <a:r>
              <a:rPr lang="fr-FR" err="1"/>
              <a:t>from</a:t>
            </a:r>
            <a:r>
              <a:rPr lang="fr-FR" dirty="0"/>
              <a:t> </a:t>
            </a:r>
            <a:r>
              <a:rPr lang="fr-FR" err="1"/>
              <a:t>previous</a:t>
            </a:r>
            <a:r>
              <a:rPr lang="fr-FR"/>
              <a:t> pipeline</a:t>
            </a:r>
            <a:endParaRPr lang="fr-FR" dirty="0"/>
          </a:p>
          <a:p>
            <a:pPr marL="285750" indent="-285750">
              <a:buFont typeface="Calibri"/>
              <a:buChar char="-"/>
            </a:pPr>
            <a:r>
              <a:rPr lang="fr-FR" dirty="0" err="1"/>
              <a:t>Doffusion</a:t>
            </a:r>
            <a:r>
              <a:rPr lang="fr-FR" dirty="0"/>
              <a:t> + </a:t>
            </a:r>
            <a:r>
              <a:rPr lang="fr-FR" dirty="0" err="1"/>
              <a:t>problem</a:t>
            </a:r>
            <a:r>
              <a:rPr lang="fr-FR" dirty="0"/>
              <a:t> of </a:t>
            </a:r>
            <a:r>
              <a:rPr lang="fr-FR" dirty="0" err="1"/>
              <a:t>corre</a:t>
            </a:r>
            <a:r>
              <a:rPr lang="fr-FR" dirty="0"/>
              <a:t> of </a:t>
            </a:r>
            <a:r>
              <a:rPr lang="fr-FR" dirty="0" err="1"/>
              <a:t>nighb</a:t>
            </a:r>
            <a:r>
              <a:rPr lang="fr-FR" dirty="0"/>
              <a:t> pixels</a:t>
            </a:r>
          </a:p>
          <a:p>
            <a:pPr marL="285750" indent="-285750">
              <a:buFont typeface="Calibri"/>
              <a:buChar char="-"/>
            </a:pPr>
            <a:r>
              <a:rPr lang="fr-FR" dirty="0"/>
              <a:t>Diffusion </a:t>
            </a:r>
            <a:r>
              <a:rPr lang="fr-FR" err="1"/>
              <a:t>comes</a:t>
            </a:r>
            <a:r>
              <a:rPr lang="fr-FR" dirty="0"/>
              <a:t> </a:t>
            </a:r>
            <a:r>
              <a:rPr lang="fr-FR" err="1"/>
              <a:t>from</a:t>
            </a:r>
            <a:r>
              <a:rPr lang="fr-FR"/>
              <a:t> SENSOR !!!!</a:t>
            </a:r>
            <a:endParaRPr lang="fr-FR" dirty="0"/>
          </a:p>
          <a:p>
            <a:pPr marL="285750" indent="-285750">
              <a:buFont typeface="Calibri"/>
              <a:buChar char="-"/>
            </a:pPr>
            <a:r>
              <a:rPr lang="fr-FR"/>
              <a:t>Optical ghoste : LENS !!!</a:t>
            </a:r>
            <a:endParaRPr lang="fr-FR" dirty="0"/>
          </a:p>
          <a:p>
            <a:pPr marL="285750" indent="-285750">
              <a:buFont typeface="Calibri"/>
              <a:buChar char="-"/>
            </a:pPr>
            <a:r>
              <a:rPr lang="fr-FR" dirty="0"/>
              <a:t>From high </a:t>
            </a:r>
            <a:r>
              <a:rPr lang="fr-FR" err="1"/>
              <a:t>resolution</a:t>
            </a:r>
            <a:r>
              <a:rPr lang="fr-FR" dirty="0"/>
              <a:t> x rays ( </a:t>
            </a:r>
            <a:r>
              <a:rPr lang="fr-FR" err="1"/>
              <a:t>low</a:t>
            </a:r>
            <a:r>
              <a:rPr lang="fr-FR" dirty="0"/>
              <a:t> </a:t>
            </a:r>
            <a:r>
              <a:rPr lang="fr-FR" err="1"/>
              <a:t>wavelenghts</a:t>
            </a:r>
            <a:r>
              <a:rPr lang="fr-FR" dirty="0"/>
              <a:t> ) ====&gt; visible light : </a:t>
            </a:r>
            <a:r>
              <a:rPr lang="fr-FR" err="1"/>
              <a:t>we</a:t>
            </a:r>
            <a:r>
              <a:rPr lang="fr-FR" dirty="0"/>
              <a:t> </a:t>
            </a:r>
            <a:r>
              <a:rPr lang="fr-FR" err="1"/>
              <a:t>introduce</a:t>
            </a:r>
            <a:r>
              <a:rPr lang="fr-FR" dirty="0"/>
              <a:t> </a:t>
            </a:r>
            <a:r>
              <a:rPr lang="fr-FR" err="1"/>
              <a:t>some</a:t>
            </a:r>
            <a:r>
              <a:rPr lang="fr-FR" dirty="0"/>
              <a:t> </a:t>
            </a:r>
            <a:r>
              <a:rPr lang="fr-FR" dirty="0" err="1"/>
              <a:t>degradat</a:t>
            </a:r>
            <a:r>
              <a:rPr lang="fr-FR" err="1"/>
              <a:t>ion</a:t>
            </a:r>
            <a:r>
              <a:rPr lang="fr-FR"/>
              <a:t> </a:t>
            </a:r>
            <a:endParaRPr lang="fr-FR" dirty="0"/>
          </a:p>
          <a:p>
            <a:pPr marL="285750" indent="-285750">
              <a:buFont typeface="Calibri"/>
              <a:buChar char="-"/>
            </a:pPr>
            <a:r>
              <a:rPr lang="fr-FR" dirty="0"/>
              <a:t>Why diffusion and </a:t>
            </a:r>
            <a:r>
              <a:rPr lang="fr-FR" dirty="0" err="1"/>
              <a:t>what</a:t>
            </a:r>
            <a:r>
              <a:rPr lang="fr-FR" dirty="0"/>
              <a:t> </a:t>
            </a:r>
            <a:r>
              <a:rPr lang="fr-FR" dirty="0" err="1"/>
              <a:t>exactly</a:t>
            </a:r>
            <a:r>
              <a:rPr lang="fr-FR" dirty="0"/>
              <a:t> </a:t>
            </a:r>
            <a:r>
              <a:rPr lang="fr-FR" dirty="0" err="1"/>
              <a:t>it</a:t>
            </a:r>
            <a:r>
              <a:rPr lang="fr-FR" dirty="0"/>
              <a:t> </a:t>
            </a:r>
            <a:r>
              <a:rPr lang="fr-FR" dirty="0" err="1"/>
              <a:t>is</a:t>
            </a:r>
            <a:r>
              <a:rPr lang="fr-FR" dirty="0"/>
              <a:t> </a:t>
            </a:r>
          </a:p>
          <a:p>
            <a:endParaRPr lang="fr-FR" dirty="0"/>
          </a:p>
          <a:p>
            <a:endParaRPr lang="fr-FR" dirty="0"/>
          </a:p>
        </p:txBody>
      </p:sp>
    </p:spTree>
    <p:extLst>
      <p:ext uri="{BB962C8B-B14F-4D97-AF65-F5344CB8AC3E}">
        <p14:creationId xmlns:p14="http://schemas.microsoft.com/office/powerpoint/2010/main" val="4782900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Grand écran</PresentationFormat>
  <Paragraphs>0</Paragraphs>
  <Slides>15</Slides>
  <Notes>14</Notes>
  <HiddenSlides>0</HiddenSlides>
  <MMClips>0</MMClips>
  <ScaleCrop>false</ScaleCrop>
  <HeadingPairs>
    <vt:vector size="4" baseType="variant">
      <vt:variant>
        <vt:lpstr>Thème</vt:lpstr>
      </vt:variant>
      <vt:variant>
        <vt:i4>1</vt:i4>
      </vt:variant>
      <vt:variant>
        <vt:lpstr>Titres des diapositives</vt:lpstr>
      </vt:variant>
      <vt:variant>
        <vt:i4>15</vt:i4>
      </vt:variant>
    </vt:vector>
  </HeadingPairs>
  <TitlesOfParts>
    <vt:vector size="16" baseType="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ESRF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High-performance algorithms for tomography</dc:title>
  <dc:subject>ESRF internship presentation</dc:subject>
  <dc:creator>Rana Alouani</dc:creator>
  <cp:lastModifiedBy>Rana Alouani</cp:lastModifiedBy>
  <cp:revision>641</cp:revision>
  <dcterms:created xsi:type="dcterms:W3CDTF">2026-08-24T14:47:41Z</dcterms:created>
  <dcterms:modified xsi:type="dcterms:W3CDTF">2026-08-26T10:55:48Z</dcterms:modified>
</cp:coreProperties>
</file>